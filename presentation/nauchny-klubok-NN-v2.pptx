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ProximaNova-regular.fntdata"/><Relationship Id="rId15" Type="http://schemas.openxmlformats.org/officeDocument/2006/relationships/font" Target="fonts/ProximaNova-bold.fntdata"/><Relationship Id="rId16" Type="http://schemas.openxmlformats.org/officeDocument/2006/relationships/font" Target="fonts/ProximaNova-italic.fntdata"/><Relationship Id="rId17" Type="http://schemas.openxmlformats.org/officeDocument/2006/relationships/font" Target="fonts/ProximaNova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02a4f90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f02a4f90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02a4f90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f02a4f90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02a4f90b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02a4f90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02a4f90b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02a4f90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02a4f90b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02a4f90b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2a4f90b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02a4f90b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2a4f90b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2a4f90b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750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/>
        </p:nvSpPr>
        <p:spPr>
          <a:xfrm>
            <a:off x="1828753" y="1494183"/>
            <a:ext cx="27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ИТ-</a:t>
            </a: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СОРЕВНОВАНИЕ</a:t>
            </a:r>
            <a:endParaRPr b="1" sz="20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" name="Google Shape;18;p6"/>
          <p:cNvSpPr txBox="1"/>
          <p:nvPr/>
        </p:nvSpPr>
        <p:spPr>
          <a:xfrm>
            <a:off x="1828750" y="1834648"/>
            <a:ext cx="4984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00FFBF"/>
                </a:solidFill>
                <a:latin typeface="Proxima Nova"/>
                <a:ea typeface="Proxima Nova"/>
                <a:cs typeface="Proxima Nova"/>
                <a:sym typeface="Proxima Nova"/>
              </a:rPr>
              <a:t>НОРНИКЕЛЬ</a:t>
            </a:r>
            <a:endParaRPr b="1" sz="4800">
              <a:solidFill>
                <a:srgbClr val="00FFB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Google Shape;19;p6"/>
          <p:cNvSpPr txBox="1"/>
          <p:nvPr/>
        </p:nvSpPr>
        <p:spPr>
          <a:xfrm>
            <a:off x="1828750" y="2437123"/>
            <a:ext cx="5890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AI SCIENCE HACK</a:t>
            </a:r>
            <a:endParaRPr b="1" sz="48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6"/>
          <p:cNvSpPr/>
          <p:nvPr/>
        </p:nvSpPr>
        <p:spPr>
          <a:xfrm>
            <a:off x="1947550" y="3381750"/>
            <a:ext cx="28179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Призовой фонд 1 500 000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3977639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302E0"/>
                </a:solidFill>
                <a:latin typeface="Proxima Nova"/>
              </a:rPr>
              <a:t>НАУЧНЫЙ КЛУБОК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12121"/>
                </a:solidFill>
                <a:latin typeface="Proxima Nova"/>
              </a:rPr>
              <a:t>Верифицируемая карта знаний R&amp;D для горно-металлургической отрасли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12121"/>
                </a:solidFill>
                <a:latin typeface="Proxima Nova"/>
              </a:rPr>
              <a:t>ПРОБЛЕМА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5302E0"/>
                </a:solidFill>
                <a:latin typeface="Proxima Nova"/>
              </a:rPr>
              <a:t>Знания есть — общей структуры нет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Институциональная память рассеяна по отчётам, презентациям и личным архивам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Команды дублируют литобзоры, не видя выполненных работ</a:t>
            </a: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Междисциплинарный поиск «режим + материал + условия» вручную занимает недели</a:t>
            </a: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• Противоречивые выводы без единой верифицированной базы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12121"/>
                </a:solidFill>
                <a:latin typeface="Proxima Nova"/>
              </a:rPr>
              <a:t>ОБРАЗ РЕШЕНИЯ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Google Shape;33;p8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5302E0"/>
                </a:solidFill>
                <a:latin typeface="Proxima Nova"/>
              </a:rPr>
              <a:t>Единый граф знаний вместо разрозненных документов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34343"/>
                </a:solidFill>
                <a:latin typeface="Proxima Nova"/>
              </a:rPr>
              <a:t>Связываем 8 типов сущностей: публикации, эксперименты,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технологии, материалы, оборудование, условия, выводы, эксперты.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Запрос естественным языком: «методы обессоливания при сульфатах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200–300 мг/л и сухом остатке ≤1000 мг/дм³» → структурированный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ответ с источниками, уровнем достоверности и цитатами.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12121"/>
                </a:solidFill>
                <a:latin typeface="Proxima Nova"/>
              </a:rPr>
              <a:t>АРХИТЕКТУРА: ГИБРИД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" name="Google Shape;41;p9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5302E0"/>
                </a:solidFill>
                <a:latin typeface="Proxima Nova"/>
              </a:rPr>
              <a:t>Граф — источник истины. LLM — интерфейс, но не источник фактов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9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Числа и диапазоны — только детерминированная regex-грамматика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   (ошибки в концентрациях недопустимы — LLM их не генерирует)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Каждая цитата верифицируется string-match к исходному тексту: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   галлюцинация физически не может попасть в граф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Сущности/связи — LLM по строгой JSON-схеме + тезаурус RU/EN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   («электроэкстракция» = «electrowinning» = «ЭЭ»)</a:t>
            </a:r>
          </a:p>
          <a:p>
            <a:pPr>
              <a:lnSpc>
                <a:spcPct val="115000"/>
              </a:lnSpc>
            </a:pPr>
            <a:r>
              <a:rPr sz="1350" b="0">
                <a:solidFill>
                  <a:srgbClr val="434343"/>
                </a:solidFill>
                <a:latin typeface="Proxima Nova"/>
              </a:rPr>
              <a:t>• Хранение — Kùzu (Cypher), ответы — GraphRAG с цитатами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342000" y="1094400"/>
            <a:ext cx="8460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0"/>
          <p:cNvSpPr txBox="1"/>
          <p:nvPr/>
        </p:nvSpPr>
        <p:spPr>
          <a:xfrm>
            <a:off x="556968" y="12344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12121"/>
                </a:solidFill>
                <a:latin typeface="Proxima Nova"/>
              </a:rPr>
              <a:t>МАСШТАБ НА ПОЛНОМ КОРПУСЕ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556975" y="1874519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302E0"/>
                </a:solidFill>
                <a:latin typeface="Proxima Nova"/>
              </a:rPr>
              <a:t>4.7 ГБ архива обработано полностью, без пропусков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" name="Google Shape;51;p10"/>
          <p:cNvSpPr txBox="1"/>
          <p:nvPr/>
        </p:nvSpPr>
        <p:spPr>
          <a:xfrm>
            <a:off x="556975" y="2377440"/>
            <a:ext cx="8208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1 828 уникальных документов (дедуп по контент-хэшу): PDF, DOCX, PPTX, XLS + OCR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259 304 числовых условия — каждое дословно найдено в источнике (string-match)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666 утверждений: строгая JSON-схема, дословная цитата хранится в узле графа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Строгий AND (вложенность интервалов): напр. 55–70°С + 150–300 А/м² → 3 из 1828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Граф Kùzu: 8 типов узлов, 19 типов рёбер, обход 3–4 уровней связей &lt; 0.2 c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3 000 рёбер «источники противоречат» + автопоиск пробелов в знаниях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Тезаурус RU/EN: 88 канонов, 400+ синонимов («электроэкстракция» = «electrowinning»)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• Ответ на многопараметрический запрос — 2–3 секунды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3420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302E0"/>
                </a:solidFill>
                <a:latin typeface="Proxima Nova"/>
              </a:rPr>
              <a:t>Обессоливание воды</a:t>
            </a:r>
            <a:endParaRPr/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сульфаты/хлориды 200–300 мг/л, сухой остаток ≤1000 мг/дм³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23 верифицированных условия, методы HiPRO (98% воды), SULFATEQ (&lt;300 мг/л)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5302E0"/>
                </a:solidFill>
                <a:latin typeface="Proxima Nova"/>
              </a:rPr>
              <a:t>Циркуляция католита (EW никеля)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мировая практика, оптимальная скорость потока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60 утверждений: 20–30 л/ч через диафрагму, 1.5–5 м³/ч рециркуляция</a:t>
            </a:r>
          </a:p>
        </p:txBody>
      </p:sp>
      <p:sp>
        <p:nvSpPr>
          <p:cNvPr id="59" name="Google Shape;59;p11"/>
          <p:cNvSpPr/>
          <p:nvPr/>
        </p:nvSpPr>
        <p:spPr>
          <a:xfrm>
            <a:off x="47178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302E0"/>
                </a:solidFill>
                <a:latin typeface="Proxima Nova"/>
              </a:rPr>
              <a:t>Au, Ag, МПГ: штейн vs шлак</a:t>
            </a:r>
            <a:endParaRPr/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эксперименты и публикации за 10 лет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коэффициенты распределения: Au 1500, Pt 5000, Rh 7000–8000 при 65% Cu</a:t>
            </a:r>
          </a:p>
          <a:p>
            <a:pPr>
              <a:lnSpc>
                <a:spcPct val="115000"/>
              </a:lnSpc>
            </a:pPr>
            <a:r>
              <a:rPr sz="8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5302E0"/>
                </a:solidFill>
                <a:latin typeface="Proxima Nova"/>
              </a:rPr>
              <a:t>Закачка шахтных вод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Россия и зарубежье, ТЭП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434343"/>
                </a:solidFill>
                <a:latin typeface="Proxima Nova"/>
              </a:rPr>
              <a:t>→ честный ответ: пробел в корпусе + внешний мониторинг (Yandex Search API)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12121"/>
                </a:solidFill>
                <a:latin typeface="Proxima Nova"/>
              </a:rPr>
              <a:t>ДЕМО: ЭТАЛОННЫЕ ЗАПРОСЫ ТЗ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/>
          <p:cNvSpPr txBox="1"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12121"/>
                </a:solidFill>
                <a:latin typeface="Proxima Nova"/>
              </a:rPr>
              <a:t>МОДЕЛЬ ВЕРИФИКАЦИИ ЗНАНИЙ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11430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302E0"/>
                </a:solidFill>
                <a:latin typeface="Proxima Nova"/>
              </a:rPr>
              <a:t>Каждый факт: источник + дословная цитата + достоверность + дата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178308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259 304 числа: каждое дословно найдено в источнике (string-match), 0 исключений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666 LLM-утверждений: цитата не совпала → в граф не попадает; прошла — хранится в узле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Валидаторы ответа: числа, вещества и отрицания сверяются с фактами — иначе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   ответ отдаётся дословными фактами (extractive), а не пересказом LLM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Уровни достоверности + версионирование: active / superseded с указанием замены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Зоны разногласий: 3 000 рёбер «источники расходятся» (параметр + вещество)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Пробелы: intent-якоря отличают отсутствующую тему от смежной (⚠️ в ответе)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Прослеживаемость: каждое число прямого ответа → ссылка [узел] → строка документа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434343"/>
                </a:solidFill>
                <a:latin typeface="Proxima Nova"/>
              </a:rPr>
              <a:t>• Безопасность: санитизация вывода, аудит-лог по админ-токену, SHA256 данных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274320" y="109728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12121"/>
                </a:solidFill>
                <a:latin typeface="Proxima Nova"/>
              </a:rPr>
              <a:t>РАЗВЁРНУТО И МАСШТАБИРУЕМО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18288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302E0"/>
                </a:solidFill>
                <a:latin typeface="Proxima Nova"/>
              </a:rPr>
              <a:t>Живое демо: catpawws-ai-science-hack.hf.space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2468880"/>
            <a:ext cx="8412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Развёртывание одной командой: docker compose up, данные подтягиваются автоматически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Лайт-режим: SQLite FTS5 — рантайм &lt; 1 ГБ RAM, без GPU (GPU нужен только сборке)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Новый домен = новые записи тезауруса, онтология не меняется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3 LLM-провайдера с автопереключением: YandexGPT → GigaChat → DeepSeek (open-weights)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434343"/>
                </a:solidFill>
                <a:latin typeface="Proxima Nova"/>
              </a:rPr>
              <a:t>• FAIR: каждый факт находим, доступен по REST, сериализуем в RDF, переиспользуем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12121"/>
                </a:solidFill>
                <a:latin typeface="Proxima Nova"/>
              </a:rPr>
              <a:t>ГРАФ — ИСТОЧНИК ИСТИНЫ.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128016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5302E0"/>
                </a:solidFill>
                <a:latin typeface="Proxima Nova"/>
              </a:rPr>
              <a:t>LLM — ИНТЕРФЕЙС, НО НЕ ФАКТ.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228600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Готовая карта знаний R&amp;D: многопараметрические запросы, верифицируемые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ответы за секунды, границы знаний и противоречия — видимы.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Roadmap: семантические эмбеддинги, цепочки процессов «выход→вход»,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34343"/>
                </a:solidFill>
                <a:latin typeface="Proxima Nova"/>
              </a:rPr>
              <a:t>автомониторинг новых публикаций, дашборды руководителя.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302E0"/>
                </a:solidFill>
                <a:latin typeface="Proxima Nova"/>
              </a:rPr>
              <a:t>Демо: catpawws-ai-science-hack.hf.space   •   Код: см. заявку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