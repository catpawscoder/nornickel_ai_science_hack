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Proxima Nova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font" Target="fonts/ProximaNova-regular.fntdata"/><Relationship Id="rId15" Type="http://schemas.openxmlformats.org/officeDocument/2006/relationships/font" Target="fonts/ProximaNova-bold.fntdata"/><Relationship Id="rId16" Type="http://schemas.openxmlformats.org/officeDocument/2006/relationships/font" Target="fonts/ProximaNova-italic.fntdata"/><Relationship Id="rId17" Type="http://schemas.openxmlformats.org/officeDocument/2006/relationships/font" Target="fonts/ProximaNova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" name="Google Shape;1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02a4f90b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" name="Google Shape;23;g3f02a4f90b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02a4f90b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f02a4f90b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02a4f90b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3f02a4f90b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f02a4f90b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f02a4f90b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02a4f90b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f02a4f90b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02a4f90b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02a4f90b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02a4f90b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02a4f90b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02a4f90bc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02a4f90b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25" y="307550"/>
            <a:ext cx="1292676" cy="2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25" y="307550"/>
            <a:ext cx="1292676" cy="2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5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5750" y="307550"/>
            <a:ext cx="1292676" cy="2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/>
          <p:nvPr/>
        </p:nvSpPr>
        <p:spPr>
          <a:xfrm>
            <a:off x="1828753" y="1494183"/>
            <a:ext cx="2722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5302E0"/>
                </a:solidFill>
                <a:latin typeface="Proxima Nova"/>
                <a:ea typeface="Proxima Nova"/>
                <a:cs typeface="Proxima Nova"/>
                <a:sym typeface="Proxima Nova"/>
              </a:rPr>
              <a:t>ИТ-</a:t>
            </a:r>
            <a:r>
              <a:rPr b="1" lang="en-GB" sz="2000">
                <a:solidFill>
                  <a:srgbClr val="5302E0"/>
                </a:solidFill>
                <a:latin typeface="Proxima Nova"/>
                <a:ea typeface="Proxima Nova"/>
                <a:cs typeface="Proxima Nova"/>
                <a:sym typeface="Proxima Nova"/>
              </a:rPr>
              <a:t>СОРЕВНОВАНИЕ</a:t>
            </a:r>
            <a:endParaRPr b="1" sz="2000">
              <a:solidFill>
                <a:srgbClr val="5302E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" name="Google Shape;18;p6"/>
          <p:cNvSpPr txBox="1"/>
          <p:nvPr/>
        </p:nvSpPr>
        <p:spPr>
          <a:xfrm>
            <a:off x="1828750" y="1834648"/>
            <a:ext cx="49842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800">
                <a:solidFill>
                  <a:srgbClr val="00FFBF"/>
                </a:solidFill>
                <a:latin typeface="Proxima Nova"/>
                <a:ea typeface="Proxima Nova"/>
                <a:cs typeface="Proxima Nova"/>
                <a:sym typeface="Proxima Nova"/>
              </a:rPr>
              <a:t>НОРНИКЕЛЬ</a:t>
            </a:r>
            <a:endParaRPr b="1" sz="4800">
              <a:solidFill>
                <a:srgbClr val="00FFB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" name="Google Shape;19;p6"/>
          <p:cNvSpPr txBox="1"/>
          <p:nvPr/>
        </p:nvSpPr>
        <p:spPr>
          <a:xfrm>
            <a:off x="1828750" y="2437123"/>
            <a:ext cx="58902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800">
                <a:solidFill>
                  <a:srgbClr val="5302E0"/>
                </a:solidFill>
                <a:latin typeface="Proxima Nova"/>
                <a:ea typeface="Proxima Nova"/>
                <a:cs typeface="Proxima Nova"/>
                <a:sym typeface="Proxima Nova"/>
              </a:rPr>
              <a:t>AI SCIENCE HACK</a:t>
            </a:r>
            <a:endParaRPr b="1" sz="4800">
              <a:solidFill>
                <a:srgbClr val="5302E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" name="Google Shape;20;p6"/>
          <p:cNvSpPr/>
          <p:nvPr/>
        </p:nvSpPr>
        <p:spPr>
          <a:xfrm>
            <a:off x="1947550" y="3381750"/>
            <a:ext cx="2817900" cy="413700"/>
          </a:xfrm>
          <a:prstGeom prst="roundRect">
            <a:avLst>
              <a:gd fmla="val 50000" name="adj"/>
            </a:avLst>
          </a:prstGeom>
          <a:solidFill>
            <a:srgbClr val="5302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Призовой фонд 1 500 000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28800" y="3977639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302E0"/>
                </a:solidFill>
                <a:latin typeface="Proxima Nova"/>
              </a:rPr>
              <a:t>НАУЧНЫЙ КЛУБОК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48056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12121"/>
                </a:solidFill>
                <a:latin typeface="Proxima Nova"/>
              </a:rPr>
              <a:t>Верифицируемая карта знаний R&amp;D для горно-металлургической отрасли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/>
        </p:nvSpPr>
        <p:spPr>
          <a:xfrm>
            <a:off x="252168" y="109181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212121"/>
                </a:solidFill>
                <a:latin typeface="Proxima Nova"/>
              </a:rPr>
              <a:t>ПРОБЛЕМА</a:t>
            </a:r>
            <a:endParaRPr b="1" sz="4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" name="Google Shape;26;p7"/>
          <p:cNvSpPr txBox="1"/>
          <p:nvPr/>
        </p:nvSpPr>
        <p:spPr>
          <a:xfrm>
            <a:off x="252175" y="1853810"/>
            <a:ext cx="7576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5302E0"/>
                </a:solidFill>
                <a:latin typeface="Proxima Nova"/>
              </a:rPr>
              <a:t>Знания есть — общей структуры нет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" name="Google Shape;27;p7"/>
          <p:cNvSpPr txBox="1"/>
          <p:nvPr/>
        </p:nvSpPr>
        <p:spPr>
          <a:xfrm>
            <a:off x="252175" y="2649210"/>
            <a:ext cx="8208600" cy="1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434343"/>
                </a:solidFill>
                <a:latin typeface="Proxima Nova"/>
              </a:rPr>
              <a:t>• Институциональная память рассеяна по отчётам, презентациям и личным архивам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>
              <a:lnSpc>
                <a:spcPct val="115000"/>
              </a:lnSpc>
            </a:pPr>
            <a:r>
              <a:rPr sz="1500" b="0">
                <a:solidFill>
                  <a:srgbClr val="434343"/>
                </a:solidFill>
                <a:latin typeface="Proxima Nova"/>
              </a:rPr>
              <a:t>• Команды дублируют литобзоры, не видя выполненных работ</a:t>
            </a:r>
          </a:p>
          <a:p>
            <a:pPr>
              <a:lnSpc>
                <a:spcPct val="115000"/>
              </a:lnSpc>
            </a:pPr>
            <a:r>
              <a:rPr sz="1500" b="0">
                <a:solidFill>
                  <a:srgbClr val="434343"/>
                </a:solidFill>
                <a:latin typeface="Proxima Nova"/>
              </a:rPr>
              <a:t>• Междисциплинарный поиск «режим + материал + условия» вручную занимает недели</a:t>
            </a:r>
          </a:p>
          <a:p>
            <a:pPr>
              <a:lnSpc>
                <a:spcPct val="115000"/>
              </a:lnSpc>
            </a:pPr>
            <a:r>
              <a:rPr sz="1500" b="0">
                <a:solidFill>
                  <a:srgbClr val="434343"/>
                </a:solidFill>
                <a:latin typeface="Proxima Nova"/>
              </a:rPr>
              <a:t>• Противоречивые выводы без единой верифицированной базы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/>
        </p:nvSpPr>
        <p:spPr>
          <a:xfrm>
            <a:off x="252168" y="109181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212121"/>
                </a:solidFill>
                <a:latin typeface="Proxima Nova"/>
              </a:rPr>
              <a:t>ОБРАЗ РЕШЕНИЯ</a:t>
            </a:r>
            <a:endParaRPr b="1" sz="4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" name="Google Shape;33;p8"/>
          <p:cNvSpPr txBox="1"/>
          <p:nvPr/>
        </p:nvSpPr>
        <p:spPr>
          <a:xfrm>
            <a:off x="252175" y="1853810"/>
            <a:ext cx="7576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5302E0"/>
                </a:solidFill>
                <a:latin typeface="Proxima Nova"/>
              </a:rPr>
              <a:t>Единый граф знаний вместо разрозненных документов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" name="Google Shape;34;p8"/>
          <p:cNvSpPr txBox="1"/>
          <p:nvPr/>
        </p:nvSpPr>
        <p:spPr>
          <a:xfrm>
            <a:off x="252175" y="2649210"/>
            <a:ext cx="8208600" cy="1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434343"/>
                </a:solidFill>
                <a:latin typeface="Proxima Nova"/>
              </a:rPr>
              <a:t>Связываем 8 типов сущностей: публикации, эксперименты,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технологии, материалы, оборудование, условия, выводы, эксперты.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/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Запрос естественным языком: «методы обессоливания при сульфатах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200–300 мг/л и сухом остатке ≤1000 мг/дм³» → структурированный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ответ с источниками, уровнем достоверности и цитатами.</a:t>
            </a:r>
          </a:p>
        </p:txBody>
      </p:sp>
      <p:pic>
        <p:nvPicPr>
          <p:cNvPr id="35" name="Google Shape;35;p8"/>
          <p:cNvPicPr preferRelativeResize="0"/>
          <p:nvPr/>
        </p:nvPicPr>
        <p:blipFill rotWithShape="1">
          <a:blip r:embed="rId3">
            <a:alphaModFix/>
          </a:blip>
          <a:srcRect b="0" l="12553" r="12546" t="0"/>
          <a:stretch/>
        </p:blipFill>
        <p:spPr>
          <a:xfrm>
            <a:off x="5420407" y="1091800"/>
            <a:ext cx="2696400" cy="3600000"/>
          </a:xfrm>
          <a:prstGeom prst="round2DiagRect">
            <a:avLst>
              <a:gd fmla="val 4278" name="adj1"/>
              <a:gd fmla="val 1279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/>
        </p:nvSpPr>
        <p:spPr>
          <a:xfrm>
            <a:off x="252168" y="109181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212121"/>
                </a:solidFill>
                <a:latin typeface="Proxima Nova"/>
              </a:rPr>
              <a:t>АРХИТЕКТУРА: ГИБРИД</a:t>
            </a:r>
            <a:endParaRPr b="1" sz="4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" name="Google Shape;41;p9"/>
          <p:cNvSpPr txBox="1"/>
          <p:nvPr/>
        </p:nvSpPr>
        <p:spPr>
          <a:xfrm>
            <a:off x="252175" y="1853810"/>
            <a:ext cx="7576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5302E0"/>
                </a:solidFill>
                <a:latin typeface="Proxima Nova"/>
              </a:rPr>
              <a:t>Граф — источник истины. LLM — интерфейс, но не источник фактов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" name="Google Shape;42;p9"/>
          <p:cNvSpPr txBox="1"/>
          <p:nvPr/>
        </p:nvSpPr>
        <p:spPr>
          <a:xfrm>
            <a:off x="252175" y="2649210"/>
            <a:ext cx="8208600" cy="1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434343"/>
                </a:solidFill>
                <a:latin typeface="Proxima Nova"/>
              </a:rPr>
              <a:t>• Числа и диапазоны — только детерминированная regex-грамматика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>
              <a:lnSpc>
                <a:spcPct val="115000"/>
              </a:lnSpc>
            </a:pPr>
            <a:r>
              <a:rPr sz="1350" b="0">
                <a:solidFill>
                  <a:srgbClr val="434343"/>
                </a:solidFill>
                <a:latin typeface="Proxima Nova"/>
              </a:rPr>
              <a:t>   (ошибки в концентрациях недопустимы — LLM их не генерирует)</a:t>
            </a:r>
          </a:p>
          <a:p>
            <a:pPr>
              <a:lnSpc>
                <a:spcPct val="115000"/>
              </a:lnSpc>
            </a:pPr>
            <a:r>
              <a:rPr sz="1350" b="0">
                <a:solidFill>
                  <a:srgbClr val="434343"/>
                </a:solidFill>
                <a:latin typeface="Proxima Nova"/>
              </a:rPr>
              <a:t>• Каждая цитата верифицируется string-match к исходному тексту:</a:t>
            </a:r>
          </a:p>
          <a:p>
            <a:pPr>
              <a:lnSpc>
                <a:spcPct val="115000"/>
              </a:lnSpc>
            </a:pPr>
            <a:r>
              <a:rPr sz="1350" b="0">
                <a:solidFill>
                  <a:srgbClr val="434343"/>
                </a:solidFill>
                <a:latin typeface="Proxima Nova"/>
              </a:rPr>
              <a:t>   галлюцинация физически не может попасть в граф</a:t>
            </a:r>
          </a:p>
          <a:p>
            <a:pPr>
              <a:lnSpc>
                <a:spcPct val="115000"/>
              </a:lnSpc>
            </a:pPr>
            <a:r>
              <a:rPr sz="1350" b="0">
                <a:solidFill>
                  <a:srgbClr val="434343"/>
                </a:solidFill>
                <a:latin typeface="Proxima Nova"/>
              </a:rPr>
              <a:t>• Сущности/связи — LLM по строгой JSON-схеме + тезаурус RU/EN</a:t>
            </a:r>
          </a:p>
          <a:p>
            <a:pPr>
              <a:lnSpc>
                <a:spcPct val="115000"/>
              </a:lnSpc>
            </a:pPr>
            <a:r>
              <a:rPr sz="1350" b="0">
                <a:solidFill>
                  <a:srgbClr val="434343"/>
                </a:solidFill>
                <a:latin typeface="Proxima Nova"/>
              </a:rPr>
              <a:t>   («электроэкстракция» = «electrowinning» = «ЭЭ»)</a:t>
            </a:r>
          </a:p>
          <a:p>
            <a:pPr>
              <a:lnSpc>
                <a:spcPct val="115000"/>
              </a:lnSpc>
            </a:pPr>
            <a:r>
              <a:rPr sz="1350" b="0">
                <a:solidFill>
                  <a:srgbClr val="434343"/>
                </a:solidFill>
                <a:latin typeface="Proxima Nova"/>
              </a:rPr>
              <a:t>• Хранение — Kùzu (Cypher), ответы — GraphRAG с цитатами</a:t>
            </a:r>
          </a:p>
        </p:txBody>
      </p:sp>
      <p:pic>
        <p:nvPicPr>
          <p:cNvPr id="43" name="Google Shape;43;p9"/>
          <p:cNvPicPr preferRelativeResize="0"/>
          <p:nvPr/>
        </p:nvPicPr>
        <p:blipFill rotWithShape="1">
          <a:blip r:embed="rId3">
            <a:alphaModFix/>
          </a:blip>
          <a:srcRect b="0" l="12553" r="12546" t="0"/>
          <a:stretch/>
        </p:blipFill>
        <p:spPr>
          <a:xfrm>
            <a:off x="5764375" y="771753"/>
            <a:ext cx="2696400" cy="3600000"/>
          </a:xfrm>
          <a:prstGeom prst="round2DiagRect">
            <a:avLst>
              <a:gd fmla="val 4278" name="adj1"/>
              <a:gd fmla="val 1279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342000" y="1094400"/>
            <a:ext cx="8460000" cy="3600000"/>
          </a:xfrm>
          <a:prstGeom prst="round2DiagRect">
            <a:avLst>
              <a:gd fmla="val 3636" name="adj1"/>
              <a:gd fmla="val 13273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0"/>
          <p:cNvSpPr txBox="1"/>
          <p:nvPr/>
        </p:nvSpPr>
        <p:spPr>
          <a:xfrm>
            <a:off x="556968" y="132041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212121"/>
                </a:solidFill>
                <a:latin typeface="Proxima Nova"/>
              </a:rPr>
              <a:t>МАСШТАБ НА ПОЛНОМ КОРПУСЕ</a:t>
            </a:r>
            <a:endParaRPr b="1" sz="4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0" name="Google Shape;50;p10"/>
          <p:cNvSpPr txBox="1"/>
          <p:nvPr/>
        </p:nvSpPr>
        <p:spPr>
          <a:xfrm>
            <a:off x="556975" y="2082410"/>
            <a:ext cx="7576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302E0"/>
                </a:solidFill>
                <a:latin typeface="Proxima Nova"/>
              </a:rPr>
              <a:t>4.7 ГБ архива кейса обработано полностью, без пропусков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1" name="Google Shape;51;p10"/>
          <p:cNvSpPr txBox="1"/>
          <p:nvPr/>
        </p:nvSpPr>
        <p:spPr>
          <a:xfrm>
            <a:off x="556975" y="2877810"/>
            <a:ext cx="8208600" cy="1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434343"/>
                </a:solidFill>
                <a:latin typeface="Proxima Nova"/>
              </a:rPr>
              <a:t>2 090 документов (PDF/DOCX/PPTX/XLS + OCR сканов)   •   292 155 уникальных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числовых условий (100% верифицированы, дубли — в occurrences)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665 LLM-утверждений с дословными цитатами   •   3 000 рёбер противоречий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34 эксперта   •   ответ на сложный запрос — 2–3 секунды</a:t>
            </a:r>
          </a:p>
        </p:txBody>
      </p:sp>
      <p:sp>
        <p:nvSpPr>
          <p:cNvPr id="52" name="Google Shape;52;p10"/>
          <p:cNvSpPr/>
          <p:nvPr/>
        </p:nvSpPr>
        <p:spPr>
          <a:xfrm>
            <a:off x="7062500" y="906700"/>
            <a:ext cx="1341000" cy="413700"/>
          </a:xfrm>
          <a:prstGeom prst="roundRect">
            <a:avLst>
              <a:gd fmla="val 50000" name="adj"/>
            </a:avLst>
          </a:prstGeom>
          <a:solidFill>
            <a:srgbClr val="5302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5302E0"/>
                </a:solidFill>
                <a:latin typeface="Proxima Nova"/>
              </a:rPr>
              <a:t>292 155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3" name="Google Shape;53;p10"/>
          <p:cNvSpPr/>
          <p:nvPr/>
        </p:nvSpPr>
        <p:spPr>
          <a:xfrm>
            <a:off x="5778400" y="906700"/>
            <a:ext cx="1091400" cy="413700"/>
          </a:xfrm>
          <a:prstGeom prst="roundRect">
            <a:avLst>
              <a:gd fmla="val 50000" name="adj"/>
            </a:avLst>
          </a:prstGeom>
          <a:solidFill>
            <a:srgbClr val="5302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5302E0"/>
                </a:solidFill>
                <a:latin typeface="Proxima Nova"/>
              </a:rPr>
              <a:t>2 090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/>
          <p:nvPr/>
        </p:nvSpPr>
        <p:spPr>
          <a:xfrm>
            <a:off x="342000" y="1094400"/>
            <a:ext cx="4095000" cy="3600000"/>
          </a:xfrm>
          <a:prstGeom prst="round2DiagRect">
            <a:avLst>
              <a:gd fmla="val 3636" name="adj1"/>
              <a:gd fmla="val 13273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302E0"/>
                </a:solidFill>
                <a:latin typeface="Proxima Nova"/>
              </a:rPr>
              <a:t>Обессоливание воды</a:t>
            </a:r>
            <a:endParaRPr/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434343"/>
                </a:solidFill>
                <a:latin typeface="Proxima Nova"/>
              </a:rPr>
              <a:t>сульфаты/хлориды 200–300 мг/л, сухой остаток ≤1000 мг/дм³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434343"/>
                </a:solidFill>
                <a:latin typeface="Proxima Nova"/>
              </a:rPr>
              <a:t>→ 23 верифицированных условия, методы HiPRO (98% воды), SULFATEQ (&lt;300 мг/л)</a:t>
            </a:r>
          </a:p>
          <a:p>
            <a:pPr>
              <a:lnSpc>
                <a:spcPct val="115000"/>
              </a:lnSpc>
            </a:pPr>
            <a:r>
              <a:rPr sz="800" b="0">
                <a:solidFill>
                  <a:srgbClr val="434343"/>
                </a:solidFill>
                <a:latin typeface="Proxima Nova"/>
              </a:rPr>
              <a:t/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5302E0"/>
                </a:solidFill>
                <a:latin typeface="Proxima Nova"/>
              </a:rPr>
              <a:t>Циркуляция католита (EW никеля)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434343"/>
                </a:solidFill>
                <a:latin typeface="Proxima Nova"/>
              </a:rPr>
              <a:t>мировая практика, оптимальная скорость потока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434343"/>
                </a:solidFill>
                <a:latin typeface="Proxima Nova"/>
              </a:rPr>
              <a:t>→ 60 утверждений: 20–30 л/ч через диафрагму, 1.5–5 м³/ч рециркуляция</a:t>
            </a:r>
          </a:p>
        </p:txBody>
      </p:sp>
      <p:sp>
        <p:nvSpPr>
          <p:cNvPr id="59" name="Google Shape;59;p11"/>
          <p:cNvSpPr/>
          <p:nvPr/>
        </p:nvSpPr>
        <p:spPr>
          <a:xfrm>
            <a:off x="4717800" y="1094400"/>
            <a:ext cx="4095000" cy="3600000"/>
          </a:xfrm>
          <a:prstGeom prst="round2DiagRect">
            <a:avLst>
              <a:gd fmla="val 3636" name="adj1"/>
              <a:gd fmla="val 13273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302E0"/>
                </a:solidFill>
                <a:latin typeface="Proxima Nova"/>
              </a:rPr>
              <a:t>Au, Ag, МПГ: штейн vs шлак</a:t>
            </a:r>
            <a:endParaRPr/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434343"/>
                </a:solidFill>
                <a:latin typeface="Proxima Nova"/>
              </a:rPr>
              <a:t>эксперименты и публикации за 10 лет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434343"/>
                </a:solidFill>
                <a:latin typeface="Proxima Nova"/>
              </a:rPr>
              <a:t>→ коэффициенты распределения: Au 1500, Pt 5000, Rh 7000–8000 при 65% Cu</a:t>
            </a:r>
          </a:p>
          <a:p>
            <a:pPr>
              <a:lnSpc>
                <a:spcPct val="115000"/>
              </a:lnSpc>
            </a:pPr>
            <a:r>
              <a:rPr sz="800" b="0">
                <a:solidFill>
                  <a:srgbClr val="434343"/>
                </a:solidFill>
                <a:latin typeface="Proxima Nova"/>
              </a:rPr>
              <a:t/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5302E0"/>
                </a:solidFill>
                <a:latin typeface="Proxima Nova"/>
              </a:rPr>
              <a:t>Закачка шахтных вод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434343"/>
                </a:solidFill>
                <a:latin typeface="Proxima Nova"/>
              </a:rPr>
              <a:t>Россия и зарубежье, ТЭП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434343"/>
                </a:solidFill>
                <a:latin typeface="Proxima Nova"/>
              </a:rPr>
              <a:t>→ честный ответ: пробел в корпусе + внешний мониторинг (Yandex Search API)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5029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12121"/>
                </a:solidFill>
                <a:latin typeface="Proxima Nova"/>
              </a:rPr>
              <a:t>ДЕМО: ЭТАЛОННЫЕ ЗАПРОСЫ ТЗ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63"/>
          <p:cNvSpPr txBox="1"/>
          <p:nvPr/>
        </p:nvSpPr>
        <p:spPr>
          <a:xfrm>
            <a:off x="365760" y="5029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12121"/>
                </a:solidFill>
                <a:latin typeface="Proxima Nova"/>
              </a:rPr>
              <a:t>МОДЕЛЬ ВЕРИФИКАЦИИ ЗНАНИЙ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114300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5302E0"/>
                </a:solidFill>
                <a:latin typeface="Proxima Nova"/>
              </a:rPr>
              <a:t>Каждый факт: источник + дословная цитата + достоверность + дата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1783080"/>
            <a:ext cx="82296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• 292 155 чисел: каждое дословно найдено в источнике (string-match), 0 исключений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• 665 LLM-утверждений: цитата не совпала → в граф не попадает (отсеяно автоматически)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• Уровни достоверности: высокая / средняя / низкая + статус (active / superseded)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• Зоны разногласий: 3 000 автоматических рёбер «источники расходятся»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• Пробелы в знаниях: система честно говорит, чего в корпусе нет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• Аудит: любой ответ прослеживается до узла графа и строки документа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/>
          <p:cNvSpPr txBox="1"/>
          <p:nvPr/>
        </p:nvSpPr>
        <p:spPr>
          <a:xfrm>
            <a:off x="274320" y="109728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12121"/>
                </a:solidFill>
                <a:latin typeface="Proxima Nova"/>
              </a:rPr>
              <a:t>РАЗВЁРНУТО И МАСШТАБИРУЕМО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" y="182880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5302E0"/>
                </a:solidFill>
                <a:latin typeface="Proxima Nova"/>
              </a:rPr>
              <a:t>Живое демо: catpawws-ai-science-hack.hf.space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" y="2468880"/>
            <a:ext cx="84124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• Docker/Compose: жюри достаточно docker compose up (данные докачиваются сами)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• Лайт-режим: SQLite FTS5 — рантайм &lt; 1 ГБ RAM, без GPU (GPU нужен только сборке)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• Влезает в стенд проверки с запасом: 12 ядер / 32 ГБ / без GPU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• Новый домен = новые записи тезауруса, онтология не меняется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• 3 LLM-провайдера с автопереключением: YandexGPT → OpenRouter → GigaChat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• FAIR: каждый факт находим, доступен по REST, сериализуем в RDF, переиспользуем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/>
          <p:cNvSpPr txBox="1"/>
          <p:nvPr/>
        </p:nvSpPr>
        <p:spPr>
          <a:xfrm>
            <a:off x="36576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12121"/>
                </a:solidFill>
                <a:latin typeface="Proxima Nova"/>
              </a:rPr>
              <a:t>ГРАФ — ИСТОЧНИК ИСТИНЫ.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760" y="128016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5302E0"/>
                </a:solidFill>
                <a:latin typeface="Proxima Nova"/>
              </a:rPr>
              <a:t>LLM — ИНТЕРФЕЙС, НО НЕ ФАКТ.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" y="228600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34343"/>
                </a:solidFill>
                <a:latin typeface="Proxima Nova"/>
              </a:rPr>
              <a:t>Готовая карта знаний R&amp;D: многопараметрические запросы, верифицируемые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434343"/>
                </a:solidFill>
                <a:latin typeface="Proxima Nova"/>
              </a:rPr>
              <a:t>ответы за секунды, границы знаний и противоречия — видимы.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434343"/>
                </a:solidFill>
                <a:latin typeface="Proxima Nova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434343"/>
                </a:solidFill>
                <a:latin typeface="Proxima Nova"/>
              </a:rPr>
              <a:t>Roadmap: семантические эмбеддинги, цепочки процессов «выход→вход»,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434343"/>
                </a:solidFill>
                <a:latin typeface="Proxima Nova"/>
              </a:rPr>
              <a:t>автомониторинг новых публикаций, дашборды руководителя.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302E0"/>
                </a:solidFill>
                <a:latin typeface="Proxima Nova"/>
              </a:rPr>
              <a:t>Демо: catpawws-ai-science-hack.hf.space   •   Код: см. заявку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