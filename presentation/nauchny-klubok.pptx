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-457200"/>
            <a:ext cx="2926080" cy="2926080"/>
          </a:xfrm>
          <a:prstGeom prst="ellipse">
            <a:avLst/>
          </a:prstGeom>
          <a:solidFill>
            <a:srgbClr val="3E54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32720" y="4114800"/>
            <a:ext cx="2011680" cy="2011680"/>
          </a:xfrm>
          <a:prstGeom prst="ellipse">
            <a:avLst/>
          </a:prstGeom>
          <a:solidFill>
            <a:srgbClr val="B8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08E45"/>
                </a:solidFill>
                <a:latin typeface="Calibri"/>
              </a:rPr>
              <a:t>НАУЧНЫЙ ХАКАТОН · ГОРНАЯ МЕТАЛЛУРГИЯ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96012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FFFFFF"/>
                </a:solidFill>
                <a:latin typeface="Cambria"/>
              </a:rPr>
              <a:t>Научный клубок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6324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i="0">
                <a:solidFill>
                  <a:srgbClr val="CFD6DC"/>
                </a:solidFill>
                <a:latin typeface="Calibri"/>
              </a:rPr>
              <a:t>Верифицируемая карта знаний R&amp;D для горно-металлургической отрасли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5B7B8C"/>
                </a:solidFill>
                <a:latin typeface="Calibri"/>
              </a:rPr>
              <a:t>2 090 документов корпуса кейса · граф знаний, где числа не может исказить ни одна модель — они проверяются дословным совпадением с источником.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5806440"/>
            <a:ext cx="2798064" cy="502920"/>
          </a:xfrm>
          <a:prstGeom prst="roundRect">
            <a:avLst>
              <a:gd name="adj" fmla="val 50000"/>
            </a:avLst>
          </a:prstGeom>
          <a:solidFill>
            <a:srgbClr val="282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806440"/>
            <a:ext cx="279806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2 090 публикаций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49624" y="5806440"/>
            <a:ext cx="2651760" cy="502920"/>
          </a:xfrm>
          <a:prstGeom prst="roundRect">
            <a:avLst>
              <a:gd name="adj" fmla="val 50000"/>
            </a:avLst>
          </a:prstGeom>
          <a:solidFill>
            <a:srgbClr val="282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9624" y="5806440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292 155 условий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9983" y="5806440"/>
            <a:ext cx="2651760" cy="502920"/>
          </a:xfrm>
          <a:prstGeom prst="roundRect">
            <a:avLst>
              <a:gd name="adj" fmla="val 50000"/>
            </a:avLst>
          </a:prstGeom>
          <a:solidFill>
            <a:srgbClr val="282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9983" y="5806440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233 утверждения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10344" y="5806440"/>
            <a:ext cx="2798064" cy="502920"/>
          </a:xfrm>
          <a:prstGeom prst="roundRect">
            <a:avLst>
              <a:gd name="adj" fmla="val 50000"/>
            </a:avLst>
          </a:prstGeom>
          <a:solidFill>
            <a:srgbClr val="282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10344" y="5806440"/>
            <a:ext cx="279806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100% верификация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747D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ПРОБЛЕМА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91440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262E"/>
                </a:solidFill>
                <a:latin typeface="Cambria"/>
              </a:rPr>
              <a:t>Проблема не в отсутствии моделей —</a:t>
            </a:r>
          </a:p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262E"/>
                </a:solidFill>
                <a:latin typeface="Cambria"/>
              </a:rPr>
              <a:t>а в отсутствии общей структуры знаний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48840"/>
            <a:ext cx="507492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423160"/>
            <a:ext cx="457200" cy="457200"/>
          </a:xfrm>
          <a:prstGeom prst="ellipse">
            <a:avLst/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404872"/>
            <a:ext cx="3886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62E"/>
                </a:solidFill>
                <a:latin typeface="Calibri"/>
              </a:rPr>
              <a:t>Потеря институциональной памяти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898648"/>
            <a:ext cx="3886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47D"/>
                </a:solidFill>
                <a:latin typeface="Calibri"/>
              </a:rPr>
              <a:t>Знания о выщелачивании, электролите, распределении металлов рассеяны по отчётам и личным архивам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148840"/>
            <a:ext cx="507492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46520" y="2423160"/>
            <a:ext cx="457200" cy="457200"/>
          </a:xfrm>
          <a:prstGeom prst="ellipse">
            <a:avLst/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2404872"/>
            <a:ext cx="3886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62E"/>
                </a:solidFill>
                <a:latin typeface="Calibri"/>
              </a:rPr>
              <a:t>Дублирование усилий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2898648"/>
            <a:ext cx="3886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47D"/>
                </a:solidFill>
                <a:latin typeface="Calibri"/>
              </a:rPr>
              <a:t>Команды заново пишут литобзоры, не видя, что аналогичная работа уже выполнена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160520"/>
            <a:ext cx="507492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14400" y="4434840"/>
            <a:ext cx="457200" cy="457200"/>
          </a:xfrm>
          <a:prstGeom prst="ellipse">
            <a:avLst/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416552"/>
            <a:ext cx="3886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62E"/>
                </a:solidFill>
                <a:latin typeface="Calibri"/>
              </a:rPr>
              <a:t>Сложность междисциплинарного поиска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910328"/>
            <a:ext cx="3886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47D"/>
                </a:solidFill>
                <a:latin typeface="Calibri"/>
              </a:rPr>
              <a:t>Нельзя быстро связать «кучное выщелачивание в холодном климате» с «выходом металла»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160520"/>
            <a:ext cx="507492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46520" y="4434840"/>
            <a:ext cx="457200" cy="457200"/>
          </a:xfrm>
          <a:prstGeom prst="ellipse">
            <a:avLst/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4416552"/>
            <a:ext cx="3886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62E"/>
                </a:solidFill>
                <a:latin typeface="Calibri"/>
              </a:rPr>
              <a:t>Низкая скорость решений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4910328"/>
            <a:ext cx="3886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47D"/>
                </a:solidFill>
                <a:latin typeface="Calibri"/>
              </a:rPr>
              <a:t>Ответ на вопрос о циркуляции электролита требует ручного сбора данных из десятков источников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747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ОБРАЗ РЕШЕНИЯ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5156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262E"/>
                </a:solidFill>
                <a:latin typeface="Cambria"/>
              </a:rPr>
              <a:t>Единая карта знаний, связывающая</a:t>
            </a:r>
          </a:p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262E"/>
                </a:solidFill>
                <a:latin typeface="Cambria"/>
              </a:rPr>
              <a:t>разнородные сущности отрасли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48840"/>
            <a:ext cx="3246120" cy="1234440"/>
          </a:xfrm>
          <a:prstGeom prst="roundRect">
            <a:avLst>
              <a:gd name="adj" fmla="val 8000"/>
            </a:avLst>
          </a:prstGeom>
          <a:solidFill>
            <a:srgbClr val="5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313432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Публикации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15768"/>
            <a:ext cx="2788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4E8EB"/>
                </a:solidFill>
                <a:latin typeface="Calibri"/>
              </a:rPr>
              <a:t>Литобзоры, патенты, диссертации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0" y="2148840"/>
            <a:ext cx="3246120" cy="1234440"/>
          </a:xfrm>
          <a:prstGeom prst="roundRect">
            <a:avLst>
              <a:gd name="adj" fmla="val 8000"/>
            </a:avLst>
          </a:prstGeom>
          <a:solidFill>
            <a:srgbClr val="3E54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2313432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Эксперименты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715768"/>
            <a:ext cx="2788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4E8EB"/>
                </a:solidFill>
                <a:latin typeface="Calibri"/>
              </a:rPr>
              <a:t>Протоколы, параметры процессов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2148840"/>
            <a:ext cx="3246120" cy="1234440"/>
          </a:xfrm>
          <a:prstGeom prst="roundRect">
            <a:avLst>
              <a:gd name="adj" fmla="val 8000"/>
            </a:avLst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313432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Технологии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715768"/>
            <a:ext cx="2788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4E8EB"/>
                </a:solidFill>
                <a:latin typeface="Calibri"/>
              </a:rPr>
              <a:t>Схемы циркуляции, конструкции ячеек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611880"/>
            <a:ext cx="3246120" cy="1234440"/>
          </a:xfrm>
          <a:prstGeom prst="roundRect">
            <a:avLst>
              <a:gd name="adj" fmla="val 8000"/>
            </a:avLst>
          </a:prstGeom>
          <a:solidFill>
            <a:srgbClr val="5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776472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Материалы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178808"/>
            <a:ext cx="2788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4E8EB"/>
                </a:solidFill>
                <a:latin typeface="Calibri"/>
              </a:rPr>
              <a:t>Сульфаты, никель, гипс, штейн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0" y="3611880"/>
            <a:ext cx="3246120" cy="1234440"/>
          </a:xfrm>
          <a:prstGeom prst="roundRect">
            <a:avLst>
              <a:gd name="adj" fmla="val 8000"/>
            </a:avLst>
          </a:prstGeom>
          <a:solidFill>
            <a:srgbClr val="3E54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3776472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Оборудование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178808"/>
            <a:ext cx="2788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4E8EB"/>
                </a:solidFill>
                <a:latin typeface="Calibri"/>
              </a:rPr>
              <a:t>Ванны EW, печи ПВП, газоочистка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89520" y="3611880"/>
            <a:ext cx="3246120" cy="1234440"/>
          </a:xfrm>
          <a:prstGeom prst="roundRect">
            <a:avLst>
              <a:gd name="adj" fmla="val 8000"/>
            </a:avLst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18120" y="3776472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Эксперты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4178808"/>
            <a:ext cx="2788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4E8EB"/>
                </a:solidFill>
                <a:latin typeface="Calibri"/>
              </a:rPr>
              <a:t>Лаборатории, авторы, компетенции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0" y="5074920"/>
            <a:ext cx="3246120" cy="1234440"/>
          </a:xfrm>
          <a:prstGeom prst="roundRect">
            <a:avLst>
              <a:gd name="adj" fmla="val 8000"/>
            </a:avLst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43400" y="5239512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Выводы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5641848"/>
            <a:ext cx="2788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4E8EB"/>
                </a:solidFill>
                <a:latin typeface="Calibri"/>
              </a:rPr>
              <a:t>Подтверждённые эффекты, ограничения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747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КЛЮЧЕВАЯ ИДЕЯ АРХИТЕКТУРЫ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mbria"/>
              </a:rPr>
              <a:t>Гибрид с жёстким разделением ответственности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E08E45"/>
                </a:solidFill>
                <a:latin typeface="Calibri"/>
              </a:rPr>
              <a:t>Граф — источник истины. LLM — интерфейс к нему на входе и выходе, но никогда не источник фактов.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10881360" cy="841248"/>
          </a:xfrm>
          <a:prstGeom prst="roundRect">
            <a:avLst>
              <a:gd name="adj" fmla="val 5000"/>
            </a:avLst>
          </a:prstGeom>
          <a:solidFill>
            <a:srgbClr val="252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67128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Числа, единицы, диапазоны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167128"/>
            <a:ext cx="42062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FFFFFF"/>
                </a:solidFill>
                <a:latin typeface="Calibri"/>
              </a:rPr>
              <a:t>Только детерминированная regex-грамматика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2167128"/>
            <a:ext cx="3657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5B7B8C"/>
                </a:solidFill>
                <a:latin typeface="Calibri"/>
              </a:rPr>
              <a:t>ТЗ: ошибки в концентрациях недопустимы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53512"/>
            <a:ext cx="10881360" cy="841248"/>
          </a:xfrm>
          <a:prstGeom prst="roundRect">
            <a:avLst>
              <a:gd name="adj" fmla="val 5000"/>
            </a:avLst>
          </a:prstGeom>
          <a:solidFill>
            <a:srgbClr val="1F24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063240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Верификация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063240"/>
            <a:ext cx="42062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FFFFFF"/>
                </a:solidFill>
                <a:latin typeface="Calibri"/>
              </a:rPr>
              <a:t>String-match каждой цитаты к исходному тексту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3063240"/>
            <a:ext cx="3657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5B7B8C"/>
                </a:solidFill>
                <a:latin typeface="Calibri"/>
              </a:rPr>
              <a:t>Галлюцинация не может попасть в граф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849624"/>
            <a:ext cx="10881360" cy="841248"/>
          </a:xfrm>
          <a:prstGeom prst="roundRect">
            <a:avLst>
              <a:gd name="adj" fmla="val 5000"/>
            </a:avLst>
          </a:prstGeom>
          <a:solidFill>
            <a:srgbClr val="252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959352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Сущности и связи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959352"/>
            <a:ext cx="42062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FFFFFF"/>
                </a:solidFill>
                <a:latin typeface="Calibri"/>
              </a:rPr>
              <a:t>LLM по строгой JSON-схеме + тезаурус-канонизатор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3959352"/>
            <a:ext cx="3657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5B7B8C"/>
                </a:solidFill>
                <a:latin typeface="Calibri"/>
              </a:rPr>
              <a:t>RU/EN синонимы: «электроэкстракция» = «electrowinning»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45736"/>
            <a:ext cx="10881360" cy="841248"/>
          </a:xfrm>
          <a:prstGeom prst="roundRect">
            <a:avLst>
              <a:gd name="adj" fmla="val 5000"/>
            </a:avLst>
          </a:prstGeom>
          <a:solidFill>
            <a:srgbClr val="1F24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855464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Хранение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4855464"/>
            <a:ext cx="42062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FFFFFF"/>
                </a:solidFill>
                <a:latin typeface="Calibri"/>
              </a:rPr>
              <a:t>Kùzu — графовая СУБД с Cypher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855464"/>
            <a:ext cx="3657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5B7B8C"/>
                </a:solidFill>
                <a:latin typeface="Calibri"/>
              </a:rPr>
              <a:t>Обход 3-4 уровней связей &lt; 0.2 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641848"/>
            <a:ext cx="10881360" cy="841248"/>
          </a:xfrm>
          <a:prstGeom prst="roundRect">
            <a:avLst>
              <a:gd name="adj" fmla="val 5000"/>
            </a:avLst>
          </a:prstGeom>
          <a:solidFill>
            <a:srgbClr val="252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751576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Синтез ответа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5751576"/>
            <a:ext cx="42062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FFFFFF"/>
                </a:solidFill>
                <a:latin typeface="Calibri"/>
              </a:rPr>
              <a:t>GraphRAG: граф фильтрует, LLM оформляет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5751576"/>
            <a:ext cx="3657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5B7B8C"/>
                </a:solidFill>
                <a:latin typeface="Calibri"/>
              </a:rPr>
              <a:t>Каждое утверждение = узел графа с цитатой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747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КАК ЭТО РАБОТАЕТ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22262E"/>
                </a:solidFill>
                <a:latin typeface="Cambria"/>
              </a:rPr>
              <a:t>Пайплайн: от документа до верифицированного ответа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196596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1965960" cy="411480"/>
          </a:xfrm>
          <a:prstGeom prst="roundRect">
            <a:avLst>
              <a:gd name="adj" fmla="val 35000"/>
            </a:avLst>
          </a:prstGeom>
          <a:solidFill>
            <a:srgbClr val="5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1965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Ингест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926080"/>
            <a:ext cx="16916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6B747D"/>
                </a:solidFill>
                <a:latin typeface="Calibri"/>
              </a:rPr>
              <a:t>PDF/DOCX/XLS/PPTX</a:t>
            </a:r>
          </a:p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6B747D"/>
                </a:solidFill>
                <a:latin typeface="Calibri"/>
              </a:rPr>
              <a:t>RU/EN + OCR сканов</a:t>
            </a:r>
          </a:p>
        </p:txBody>
      </p:sp>
      <p:sp>
        <p:nvSpPr>
          <p:cNvPr id="9" name="Chevron 8"/>
          <p:cNvSpPr/>
          <p:nvPr/>
        </p:nvSpPr>
        <p:spPr>
          <a:xfrm>
            <a:off x="2624327" y="3118103"/>
            <a:ext cx="219456" cy="256032"/>
          </a:xfrm>
          <a:prstGeom prst="chevron">
            <a:avLst/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62072" y="2377440"/>
            <a:ext cx="196596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62072" y="2377440"/>
            <a:ext cx="1965960" cy="411480"/>
          </a:xfrm>
          <a:prstGeom prst="roundRect">
            <a:avLst>
              <a:gd name="adj" fmla="val 35000"/>
            </a:avLst>
          </a:prstGeom>
          <a:solidFill>
            <a:srgbClr val="5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2377440"/>
            <a:ext cx="1965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Числа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9232" y="2926080"/>
            <a:ext cx="16916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6B747D"/>
                </a:solidFill>
                <a:latin typeface="Calibri"/>
              </a:rPr>
              <a:t>regex-грамматика</a:t>
            </a:r>
          </a:p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6B747D"/>
                </a:solidFill>
                <a:latin typeface="Calibri"/>
              </a:rPr>
              <a:t>181 047 условий</a:t>
            </a:r>
          </a:p>
        </p:txBody>
      </p:sp>
      <p:sp>
        <p:nvSpPr>
          <p:cNvPr id="14" name="Chevron 13"/>
          <p:cNvSpPr/>
          <p:nvPr/>
        </p:nvSpPr>
        <p:spPr>
          <a:xfrm>
            <a:off x="4846319" y="3118103"/>
            <a:ext cx="219456" cy="256032"/>
          </a:xfrm>
          <a:prstGeom prst="chevron">
            <a:avLst/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84064" y="2377440"/>
            <a:ext cx="196596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84064" y="2377440"/>
            <a:ext cx="1965960" cy="411480"/>
          </a:xfrm>
          <a:prstGeom prst="roundRect">
            <a:avLst>
              <a:gd name="adj" fmla="val 35000"/>
            </a:avLst>
          </a:prstGeom>
          <a:solidFill>
            <a:srgbClr val="5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84064" y="2377440"/>
            <a:ext cx="1965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Сущности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21224" y="2926080"/>
            <a:ext cx="16916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6B747D"/>
                </a:solidFill>
                <a:latin typeface="Calibri"/>
              </a:rPr>
              <a:t>LLM + тезаурус</a:t>
            </a:r>
          </a:p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6B747D"/>
                </a:solidFill>
                <a:latin typeface="Calibri"/>
              </a:rPr>
              <a:t>88 канонов, 400+ синонимов</a:t>
            </a:r>
          </a:p>
        </p:txBody>
      </p:sp>
      <p:sp>
        <p:nvSpPr>
          <p:cNvPr id="19" name="Chevron 18"/>
          <p:cNvSpPr/>
          <p:nvPr/>
        </p:nvSpPr>
        <p:spPr>
          <a:xfrm>
            <a:off x="7068311" y="3118103"/>
            <a:ext cx="219456" cy="256032"/>
          </a:xfrm>
          <a:prstGeom prst="chevron">
            <a:avLst/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06055" y="2377440"/>
            <a:ext cx="196596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06055" y="2377440"/>
            <a:ext cx="1965960" cy="411480"/>
          </a:xfrm>
          <a:prstGeom prst="roundRect">
            <a:avLst>
              <a:gd name="adj" fmla="val 35000"/>
            </a:avLst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06055" y="2377440"/>
            <a:ext cx="1965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Граф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43215" y="2926080"/>
            <a:ext cx="16916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6B747D"/>
                </a:solidFill>
                <a:latin typeface="Calibri"/>
              </a:rPr>
              <a:t>Kùzu: 8 типов узлов</a:t>
            </a:r>
          </a:p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6B747D"/>
                </a:solidFill>
                <a:latin typeface="Calibri"/>
              </a:rPr>
              <a:t>19 типов рёбер</a:t>
            </a:r>
          </a:p>
        </p:txBody>
      </p:sp>
      <p:sp>
        <p:nvSpPr>
          <p:cNvPr id="24" name="Chevron 23"/>
          <p:cNvSpPr/>
          <p:nvPr/>
        </p:nvSpPr>
        <p:spPr>
          <a:xfrm>
            <a:off x="9290303" y="3118103"/>
            <a:ext cx="219456" cy="256032"/>
          </a:xfrm>
          <a:prstGeom prst="chevron">
            <a:avLst/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528047" y="2377440"/>
            <a:ext cx="196596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528047" y="2377440"/>
            <a:ext cx="1965960" cy="411480"/>
          </a:xfrm>
          <a:prstGeom prst="roundRect">
            <a:avLst>
              <a:gd name="adj" fmla="val 35000"/>
            </a:avLst>
          </a:prstGeom>
          <a:solidFill>
            <a:srgbClr val="5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28047" y="2377440"/>
            <a:ext cx="1965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Ответ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65207" y="2926080"/>
            <a:ext cx="16916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6B747D"/>
                </a:solidFill>
                <a:latin typeface="Calibri"/>
              </a:rPr>
              <a:t>BM25 + фильтры графа</a:t>
            </a:r>
          </a:p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6B747D"/>
                </a:solidFill>
                <a:latin typeface="Calibri"/>
              </a:rPr>
              <a:t>+ LLM-синтез с цитатами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5262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1">
                <a:solidFill>
                  <a:srgbClr val="3E5463"/>
                </a:solidFill>
                <a:latin typeface="Calibri"/>
              </a:rPr>
              <a:t>Каждый узел графа несёт источник, дословную цитату и уровень достоверности — модель верификации знаний из ТЗ.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747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ДЕМОНСТРАЦИЯ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22262E"/>
                </a:solidFill>
                <a:latin typeface="Cambria"/>
              </a:rPr>
              <a:t>4 эталонных запроса из ТЗ — с числами и подтверждено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512064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109728" cy="1737360"/>
          </a:xfrm>
          <a:prstGeom prst="rect">
            <a:avLst/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2194560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2262E"/>
                </a:solidFill>
                <a:latin typeface="Calibri"/>
              </a:rPr>
              <a:t>Обессоливание воды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633472"/>
            <a:ext cx="45720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47D"/>
                </a:solidFill>
                <a:latin typeface="Calibri"/>
              </a:rPr>
              <a:t>Сульфаты/хлориды 200-300 мг/л, сухой остаток ≤1000 мг/дм³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3291839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B86A2A"/>
                </a:solidFill>
                <a:latin typeface="Calibri"/>
              </a:rPr>
              <a:t>26 условий · 24 утверждения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2011680"/>
            <a:ext cx="512064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35040" y="2011680"/>
            <a:ext cx="109728" cy="1737360"/>
          </a:xfrm>
          <a:prstGeom prst="rect">
            <a:avLst/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79" y="2194560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2262E"/>
                </a:solidFill>
                <a:latin typeface="Calibri"/>
              </a:rPr>
              <a:t>Циркуляция католита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79" y="2633472"/>
            <a:ext cx="45720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47D"/>
                </a:solidFill>
                <a:latin typeface="Calibri"/>
              </a:rPr>
              <a:t>Технические решения EW никеля в мировой практике, оптимальная скорость потока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79" y="3291839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B86A2A"/>
                </a:solidFill>
                <a:latin typeface="Calibri"/>
              </a:rPr>
              <a:t>60 утверждений с числами (л/мин, м³/ч)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31920"/>
            <a:ext cx="512064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931920"/>
            <a:ext cx="109728" cy="1737360"/>
          </a:xfrm>
          <a:prstGeom prst="rect">
            <a:avLst/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19" y="4114800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2262E"/>
                </a:solidFill>
                <a:latin typeface="Calibri"/>
              </a:rPr>
              <a:t>Au, Ag, МПГ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19" y="4553712"/>
            <a:ext cx="45720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47D"/>
                </a:solidFill>
                <a:latin typeface="Calibri"/>
              </a:rPr>
              <a:t>Распределение между штейном и шлаком за последние 10 лет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19" y="5212079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B86A2A"/>
                </a:solidFill>
                <a:latin typeface="Calibri"/>
              </a:rPr>
              <a:t>60 утверждений, коэффициенты распределения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35040" y="3931920"/>
            <a:ext cx="512064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35040" y="3931920"/>
            <a:ext cx="109728" cy="1737360"/>
          </a:xfrm>
          <a:prstGeom prst="rect">
            <a:avLst/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79" y="4114800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2262E"/>
                </a:solidFill>
                <a:latin typeface="Calibri"/>
              </a:rPr>
              <a:t>Закачка шахтных вод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79" y="4553712"/>
            <a:ext cx="45720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47D"/>
                </a:solidFill>
                <a:latin typeface="Calibri"/>
              </a:rPr>
              <a:t>Способы в России и за рубежом, технико-экономические показатели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79" y="5212079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B86A2A"/>
                </a:solidFill>
                <a:latin typeface="Calibri"/>
              </a:rPr>
              <a:t>6 утверждений · гео-фильтр РФ/мир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747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МОДЕЛЬ ВЕРИФИКАЦИИ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mbria"/>
              </a:rPr>
              <a:t>Каждый факт — источник, достоверность, дата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3429000" cy="1554480"/>
          </a:xfrm>
          <a:prstGeom prst="roundRect">
            <a:avLst>
              <a:gd name="adj" fmla="val 8000"/>
            </a:avLst>
          </a:prstGeom>
          <a:solidFill>
            <a:srgbClr val="252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331720"/>
            <a:ext cx="365760" cy="365760"/>
          </a:xfrm>
          <a:prstGeom prst="ellipse">
            <a:avLst/>
          </a:prstGeom>
          <a:solidFill>
            <a:srgbClr val="3DB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19" y="22860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Высокая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B7B8C"/>
                </a:solidFill>
                <a:latin typeface="Calibri"/>
              </a:rPr>
              <a:t>Подтверждено данными / несколькими источниками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103120"/>
            <a:ext cx="3429000" cy="1554480"/>
          </a:xfrm>
          <a:prstGeom prst="roundRect">
            <a:avLst>
              <a:gd name="adj" fmla="val 8000"/>
            </a:avLst>
          </a:prstGeom>
          <a:solidFill>
            <a:srgbClr val="252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72000" y="2331720"/>
            <a:ext cx="365760" cy="365760"/>
          </a:xfrm>
          <a:prstGeom prst="ellipse">
            <a:avLst/>
          </a:prstGeom>
          <a:solidFill>
            <a:srgbClr val="E0B0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0" y="22860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Средняя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834640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B7B8C"/>
                </a:solidFill>
                <a:latin typeface="Calibri"/>
              </a:rPr>
              <a:t>Единичное упоминание в надёжном источнике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103120"/>
            <a:ext cx="3429000" cy="1554480"/>
          </a:xfrm>
          <a:prstGeom prst="roundRect">
            <a:avLst>
              <a:gd name="adj" fmla="val 8000"/>
            </a:avLst>
          </a:prstGeom>
          <a:solidFill>
            <a:srgbClr val="252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75320" y="2331720"/>
            <a:ext cx="365760" cy="365760"/>
          </a:xfrm>
          <a:prstGeom prst="ellipse">
            <a:avLst/>
          </a:prstGeom>
          <a:solidFill>
            <a:srgbClr val="D9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23960" y="22860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Низкая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834640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B7B8C"/>
                </a:solidFill>
                <a:latin typeface="Calibri"/>
              </a:rPr>
              <a:t>Требует дополнительной проверки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77639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E08E45"/>
                </a:solidFill>
                <a:latin typeface="Calibri"/>
              </a:rPr>
              <a:t>Плюс: статус (active / unverified_quote / superseded), дата актуализации, версионирование фактов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5720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FFFFFF"/>
                </a:solidFill>
                <a:latin typeface="Calibri"/>
              </a:rPr>
              <a:t>233 из 233 извлечённых LLM утверждений прошли string-match верификацию цитаты к исходному тексту документа.</a:t>
            </a:r>
          </a:p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FFFFFF"/>
                </a:solidFill>
                <a:latin typeface="Calibri"/>
              </a:rPr>
              <a:t>Ни одна цитата не была принята без дословного совпадения — расхождения автоматически понижаются до низкой достоверности.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747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ТЕХНОЛОГИЧЕСКИЙ СТЕК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22262E"/>
                </a:solidFill>
                <a:latin typeface="Cambria"/>
              </a:rPr>
              <a:t>Компоненты решения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2514600" cy="1051560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03120"/>
            <a:ext cx="2148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B86A2A"/>
                </a:solidFill>
                <a:latin typeface="Calibri"/>
              </a:rPr>
              <a:t>Ингест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441448"/>
            <a:ext cx="2148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2262E"/>
                </a:solidFill>
                <a:latin typeface="Calibri"/>
              </a:rPr>
              <a:t>PyMuPDF, docx, xls, pptx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965960"/>
            <a:ext cx="2514600" cy="1051560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2103120"/>
            <a:ext cx="2148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B86A2A"/>
                </a:solidFill>
                <a:latin typeface="Calibri"/>
              </a:rPr>
              <a:t>OCR сканов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441448"/>
            <a:ext cx="2148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2262E"/>
                </a:solidFill>
                <a:latin typeface="Calibri"/>
              </a:rPr>
              <a:t>easyocr на GPU (RTX 5090)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1965960"/>
            <a:ext cx="2514600" cy="1051560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2103120"/>
            <a:ext cx="2148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B86A2A"/>
                </a:solidFill>
                <a:latin typeface="Calibri"/>
              </a:rPr>
              <a:t>Числа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41448"/>
            <a:ext cx="2148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2262E"/>
                </a:solidFill>
                <a:latin typeface="Calibri"/>
              </a:rPr>
              <a:t>Regex-грамматика (собственная)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1965960"/>
            <a:ext cx="2514600" cy="1051560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2103120"/>
            <a:ext cx="2148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B86A2A"/>
                </a:solidFill>
                <a:latin typeface="Calibri"/>
              </a:rPr>
              <a:t>Тезаурус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441448"/>
            <a:ext cx="2148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2262E"/>
                </a:solidFill>
                <a:latin typeface="Calibri"/>
              </a:rPr>
              <a:t>88 канонов, 400+ синонимов RU/EN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200400"/>
            <a:ext cx="2514600" cy="1051560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59" y="3337560"/>
            <a:ext cx="2148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B86A2A"/>
                </a:solidFill>
                <a:latin typeface="Calibri"/>
              </a:rPr>
              <a:t>LLM-извлечение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3675887"/>
            <a:ext cx="2148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2262E"/>
                </a:solidFill>
                <a:latin typeface="Calibri"/>
              </a:rPr>
              <a:t>Строгая JSON-схема онтологии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37560" y="3200400"/>
            <a:ext cx="2514600" cy="1051560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20440" y="3337560"/>
            <a:ext cx="2148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B86A2A"/>
                </a:solidFill>
                <a:latin typeface="Calibri"/>
              </a:rPr>
              <a:t>Граф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3675887"/>
            <a:ext cx="2148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2262E"/>
                </a:solidFill>
                <a:latin typeface="Calibri"/>
              </a:rPr>
              <a:t>Kùzu (embedded, Cypher)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0" y="3200400"/>
            <a:ext cx="2514600" cy="1051560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0" y="3337560"/>
            <a:ext cx="2148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B86A2A"/>
                </a:solidFill>
                <a:latin typeface="Calibri"/>
              </a:rPr>
              <a:t>LLM-инференс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3675887"/>
            <a:ext cx="2148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2262E"/>
                </a:solidFill>
                <a:latin typeface="Calibri"/>
              </a:rPr>
              <a:t>Yandex → OpenRouter → GigaChat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32520" y="3200400"/>
            <a:ext cx="2514600" cy="1051560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15400" y="3337560"/>
            <a:ext cx="2148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B86A2A"/>
                </a:solidFill>
                <a:latin typeface="Calibri"/>
              </a:rPr>
              <a:t>API/UI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15400" y="3675887"/>
            <a:ext cx="2148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2262E"/>
                </a:solidFill>
                <a:latin typeface="Calibri"/>
              </a:rPr>
              <a:t>FastAPI + Cytoscape.js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747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МАСШТАБИРУЕМОСТЬ И FAIR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22262E"/>
                </a:solidFill>
                <a:latin typeface="Cambria"/>
              </a:rPr>
              <a:t>Готово к росту: новые домены, новые источники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521208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5B7B8C"/>
                </a:solidFill>
                <a:latin typeface="Calibri"/>
              </a:rPr>
              <a:t>Расширяемость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06040"/>
            <a:ext cx="46634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182880" marL="182880">
              <a:lnSpc>
                <a:spcPct val="108000"/>
              </a:lnSpc>
              <a:spcAft>
                <a:spcPts val="1200"/>
              </a:spcAft>
              <a:buClr>
                <a:srgbClr val="E08E45"/>
              </a:buClr>
              <a:buFont typeface="Arial"/>
              <a:buChar char="●"/>
            </a:pPr>
            <a:r>
              <a:rPr sz="1300">
                <a:solidFill>
                  <a:srgbClr val="22262E"/>
                </a:solidFill>
                <a:latin typeface="Calibri"/>
              </a:rPr>
              <a:t>Новый домен = новые записи тезауруса, онтология не меняется</a:t>
            </a:r>
          </a:p>
          <a:p>
            <a:pPr indent="-182880" marL="182880">
              <a:lnSpc>
                <a:spcPct val="108000"/>
              </a:lnSpc>
              <a:spcAft>
                <a:spcPts val="1200"/>
              </a:spcAft>
              <a:buClr>
                <a:srgbClr val="E08E45"/>
              </a:buClr>
              <a:buFont typeface="Arial"/>
              <a:buChar char="●"/>
            </a:pPr>
            <a:r>
              <a:rPr sz="1300">
                <a:solidFill>
                  <a:srgbClr val="22262E"/>
                </a:solidFill>
                <a:latin typeface="Calibri"/>
              </a:rPr>
              <a:t>Kùzu держит миллионы узлов; переход на Neo4j — те же Cypher-запросы</a:t>
            </a:r>
          </a:p>
          <a:p>
            <a:pPr indent="-182880" marL="182880">
              <a:lnSpc>
                <a:spcPct val="108000"/>
              </a:lnSpc>
              <a:spcAft>
                <a:spcPts val="1200"/>
              </a:spcAft>
              <a:buClr>
                <a:srgbClr val="E08E45"/>
              </a:buClr>
              <a:buFont typeface="Arial"/>
              <a:buChar char="●"/>
            </a:pPr>
            <a:r>
              <a:rPr sz="1300">
                <a:solidFill>
                  <a:srgbClr val="22262E"/>
                </a:solidFill>
                <a:latin typeface="Calibri"/>
              </a:rPr>
              <a:t>Извлечение инкрементально: новый документ проходит слои независимо</a:t>
            </a:r>
          </a:p>
          <a:p>
            <a:pPr indent="-182880" marL="182880">
              <a:lnSpc>
                <a:spcPct val="108000"/>
              </a:lnSpc>
              <a:spcAft>
                <a:spcPts val="1200"/>
              </a:spcAft>
              <a:buClr>
                <a:srgbClr val="E08E45"/>
              </a:buClr>
              <a:buFont typeface="Arial"/>
              <a:buChar char="●"/>
            </a:pPr>
            <a:r>
              <a:rPr sz="1300">
                <a:solidFill>
                  <a:srgbClr val="22262E"/>
                </a:solidFill>
                <a:latin typeface="Calibri"/>
              </a:rPr>
              <a:t>Версионирование: Claim.status / superseded_by / created_at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920240"/>
            <a:ext cx="5394960" cy="4114800"/>
          </a:xfrm>
          <a:prstGeom prst="roundRect">
            <a:avLst>
              <a:gd name="adj" fmla="val 6000"/>
            </a:avLst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1488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08E45"/>
                </a:solidFill>
                <a:latin typeface="Calibri"/>
              </a:rPr>
              <a:t>Соответствие FAIR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51760"/>
            <a:ext cx="1554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Findable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265176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B7B8C"/>
                </a:solidFill>
                <a:latin typeface="Calibri"/>
              </a:rPr>
              <a:t>BM25 + сущности + фильтры; у каждого факта — ID узла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429000"/>
            <a:ext cx="1554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Accessible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342900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B7B8C"/>
                </a:solidFill>
                <a:latin typeface="Calibri"/>
              </a:rPr>
              <a:t>REST API, экспорт JSON; ролевая модель доступа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206240"/>
            <a:ext cx="1554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Interoperable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42062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B7B8C"/>
                </a:solidFill>
                <a:latin typeface="Calibri"/>
              </a:rPr>
              <a:t>Онтология сериализуема в RDF/OWL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983479"/>
            <a:ext cx="1554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Reusable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4983479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B7B8C"/>
                </a:solidFill>
                <a:latin typeface="Calibri"/>
              </a:rPr>
              <a:t>Источник, цитата, достоверность, дата — у каждого факта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747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" y="4572000"/>
            <a:ext cx="2377440" cy="2377440"/>
          </a:xfrm>
          <a:prstGeom prst="ellipse">
            <a:avLst/>
          </a:prstGeom>
          <a:solidFill>
            <a:srgbClr val="3E54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0"/>
            <a:ext cx="1828800" cy="1828800"/>
          </a:xfrm>
          <a:prstGeom prst="ellipse">
            <a:avLst/>
          </a:prstGeom>
          <a:solidFill>
            <a:srgbClr val="B8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Cambria"/>
              </a:rPr>
              <a:t>Граф — источник истины.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E08E45"/>
                </a:solidFill>
                <a:latin typeface="Cambria"/>
              </a:rPr>
              <a:t>LLM — интерфейс, но не факт.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0040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CFD6DC"/>
                </a:solidFill>
                <a:latin typeface="Calibri"/>
              </a:rPr>
              <a:t>Научный клубок готов отвечать на сложные многопараметрические запросы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3456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08E45"/>
                </a:solidFill>
                <a:latin typeface="Cambria"/>
              </a:rPr>
              <a:t>2 090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00600"/>
            <a:ext cx="34564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B7B8C"/>
                </a:solidFill>
                <a:latin typeface="Calibri"/>
              </a:rPr>
              <a:t>документов обработано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9432" y="4114800"/>
            <a:ext cx="26334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08E45"/>
                </a:solidFill>
                <a:latin typeface="Cambria"/>
              </a:rPr>
              <a:t>292 155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9432" y="4800600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B7B8C"/>
                </a:solidFill>
                <a:latin typeface="Calibri"/>
              </a:rPr>
              <a:t>числовых условий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52944" y="4114800"/>
            <a:ext cx="444398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08E45"/>
                </a:solidFill>
                <a:latin typeface="Cambria"/>
              </a:rPr>
              <a:t>233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52944" y="4800600"/>
            <a:ext cx="444398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B7B8C"/>
                </a:solidFill>
                <a:latin typeface="Calibri"/>
              </a:rPr>
              <a:t>утверждения (100% verified)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16967" y="4114800"/>
            <a:ext cx="23042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08E45"/>
                </a:solidFill>
                <a:latin typeface="Cambr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16967" y="4800600"/>
            <a:ext cx="230428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B7B8C"/>
                </a:solidFill>
                <a:latin typeface="Calibri"/>
              </a:rPr>
              <a:t>LLM-провайдера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85216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5B7B8C"/>
                </a:solidFill>
                <a:latin typeface="Calibri"/>
              </a:rPr>
              <a:t>Репозиторий · демо · презентация — см. сопроводительные материалы подачи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747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