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457200"/>
            <a:ext cx="2926080" cy="292608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32720" y="4114800"/>
            <a:ext cx="2011680" cy="201168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8E45"/>
                </a:solidFill>
                <a:latin typeface="Calibri"/>
              </a:rPr>
              <a:t>НАУЧНЫЙ ХАКАТОН · ГОРНАЯ МЕТАЛЛУРГИЯ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mbria"/>
              </a:rPr>
              <a:t>Научный клубок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FD6DC"/>
                </a:solidFill>
                <a:latin typeface="Calibri"/>
              </a:rPr>
              <a:t>Верифицируемая карта знаний R&amp;D для горно-металлургической отрасли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B7B8C"/>
                </a:solidFill>
                <a:latin typeface="Calibri"/>
              </a:rPr>
              <a:t>Граф знаний, где числа не может исказить ни одна модель — они проверяются дословным совпадением с источником.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806440"/>
            <a:ext cx="2505456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250545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101 публикация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7016" y="5806440"/>
            <a:ext cx="2505456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5806440"/>
            <a:ext cx="250545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20 843 условия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580644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5806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233 утверждения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1432" y="5806440"/>
            <a:ext cx="2798064" cy="502920"/>
          </a:xfrm>
          <a:prstGeom prst="roundRect">
            <a:avLst>
              <a:gd name="adj" fmla="val 50000"/>
            </a:avLst>
          </a:prstGeom>
          <a:solidFill>
            <a:srgbClr val="28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2" y="580644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100% верификация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9144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Проблема не в отсутствии моделей —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а в отсутствии общей структуры знаний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Потеря институциональной памяти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Знания о выщелачивании, электролите, распределении металлов рассеяны по отчётам и личным архивам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4884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Дублирование усилий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89864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Команды заново пишут литобзоры, не видя, что аналогичная работа уже выполнена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Сложность междисциплинарного поиска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Нельзя быстро связать «кучное выщелачивание в холодном климате» с «выходом металла»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60520"/>
            <a:ext cx="50749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0" y="4434840"/>
            <a:ext cx="457200" cy="457200"/>
          </a:xfrm>
          <a:prstGeom prst="ellipse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416552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62E"/>
                </a:solidFill>
                <a:latin typeface="Calibri"/>
              </a:rPr>
              <a:t>Низкая скорость решений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910328"/>
            <a:ext cx="3886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Ответ на вопрос о циркуляции электролита требует ручного сбора данных из десятков 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ОБРАЗ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Единая карта знаний, связывающая</a:t>
            </a:r>
          </a:p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2262E"/>
                </a:solidFill>
                <a:latin typeface="Cambria"/>
              </a:rPr>
              <a:t>разнородные сущности отрасли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Публикации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Литобзоры, патенты, диссертации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Эксперименты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Протоколы, параметры процессов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14884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1343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Технологии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71576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Схемы циркуляции, конструкции ячеек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Материалы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Сульфаты, никель, гипс, штейн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Оборудование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Ванны EW, печи ПВП, газоочистка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6118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7764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Эксперты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17880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Лаборатории, авторы, компетенции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50749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23951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Выводы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641848"/>
            <a:ext cx="2788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4E8EB"/>
                </a:solidFill>
                <a:latin typeface="Calibri"/>
              </a:rPr>
              <a:t>Подтверждённые эффекты, ограничения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КЛЮЧЕВАЯ ИДЕЯ АРХИТЕКТУРЫ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Гибрид с жёстким разделением ответственности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E08E45"/>
                </a:solidFill>
                <a:latin typeface="Calibri"/>
              </a:rPr>
              <a:t>Граф — источник истины. LLM — интерфейс к нему на входе и выходе, но никогда не источник фактов.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67128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Числа, единицы, диапазоны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67128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Только детерминированная regex-грамматика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67128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ТЗ: ошибки в концентрациях недопустимы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3512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Верификация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063240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String-match каждой цитаты к исходному тексту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06324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Галлюцинация не может попасть в граф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9624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59352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Сущности и связи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959352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LLM по строгой JSON-схеме + тезаурус-канонизатор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59352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RU/EN синонимы: «электроэкстракция» = «electrowinning»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45736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1F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55464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Хранение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855464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Kùzu — графовая СУБД с Cypher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85546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Обход 3-4 уровней связей &lt; 0.2 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41848"/>
            <a:ext cx="10881360" cy="841248"/>
          </a:xfrm>
          <a:prstGeom prst="roundRect">
            <a:avLst>
              <a:gd name="adj" fmla="val 5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751576"/>
            <a:ext cx="2377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Синтез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GraphRAG: граф фильтрует, LLM оформляет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75157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7B8C"/>
                </a:solidFill>
                <a:latin typeface="Calibri"/>
              </a:rPr>
              <a:t>Каждое утверждение = узел графа с цитатой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Пайплайн: от документа до верифицированного ответа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Ингест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PDF/DOCX RU/EN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→ текст + метаданные</a:t>
            </a:r>
          </a:p>
        </p:txBody>
      </p:sp>
      <p:sp>
        <p:nvSpPr>
          <p:cNvPr id="9" name="Chevron 8"/>
          <p:cNvSpPr/>
          <p:nvPr/>
        </p:nvSpPr>
        <p:spPr>
          <a:xfrm>
            <a:off x="2624327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62072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62072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regex-грамматика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20 843 условия</a:t>
            </a:r>
          </a:p>
        </p:txBody>
      </p:sp>
      <p:sp>
        <p:nvSpPr>
          <p:cNvPr id="14" name="Chevron 13"/>
          <p:cNvSpPr/>
          <p:nvPr/>
        </p:nvSpPr>
        <p:spPr>
          <a:xfrm>
            <a:off x="4846319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4064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Сущности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LLM + тезаурус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88 канонов, 400+ синонимов</a:t>
            </a:r>
          </a:p>
        </p:txBody>
      </p:sp>
      <p:sp>
        <p:nvSpPr>
          <p:cNvPr id="19" name="Chevron 18"/>
          <p:cNvSpPr/>
          <p:nvPr/>
        </p:nvSpPr>
        <p:spPr>
          <a:xfrm>
            <a:off x="7068311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5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06055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6055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Граф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5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Kùzu: 8 типов узлов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19 типов рёбер</a:t>
            </a:r>
          </a:p>
        </p:txBody>
      </p:sp>
      <p:sp>
        <p:nvSpPr>
          <p:cNvPr id="24" name="Chevron 23"/>
          <p:cNvSpPr/>
          <p:nvPr/>
        </p:nvSpPr>
        <p:spPr>
          <a:xfrm>
            <a:off x="9290303" y="3118103"/>
            <a:ext cx="219456" cy="256032"/>
          </a:xfrm>
          <a:prstGeom prst="chevron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28047" y="237744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28047" y="2377440"/>
            <a:ext cx="1965960" cy="411480"/>
          </a:xfrm>
          <a:prstGeom prst="roundRect">
            <a:avLst>
              <a:gd name="adj" fmla="val 35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28047" y="2377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7" y="2926080"/>
            <a:ext cx="1691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BM25 + фильтры графа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6B747D"/>
                </a:solidFill>
                <a:latin typeface="Calibri"/>
              </a:rPr>
              <a:t>+ LLM-синтез с цитатами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526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E5463"/>
                </a:solidFill>
                <a:latin typeface="Calibri"/>
              </a:rPr>
              <a:t>Каждый узел графа несёт источник, дословную цитату и уровень достоверности — модель верификации знаний из ТЗ.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4 эталонных запроса из ТЗ — с числами и подтверждено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Обессоливание 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Сульфаты/хлориды 200-300 мг/л, сухой остаток ≤1000 мг/дм³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26 условий · 24 утверждения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011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201168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21945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Циркуляция католита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263347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Технические решения EW никеля в мировой практике, оптимальная скорость потока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79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 с числами (л/мин, м³/ч)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Au, Ag, МПГ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Распределение между штейном и шлаком за последние 10 лет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60 утверждений, коэффициенты распределения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93192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931920"/>
            <a:ext cx="109728" cy="1737360"/>
          </a:xfrm>
          <a:prstGeom prst="rect">
            <a:avLst/>
          </a:prstGeom>
          <a:solidFill>
            <a:srgbClr val="E0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41148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62E"/>
                </a:solidFill>
                <a:latin typeface="Calibri"/>
              </a:rPr>
              <a:t>Закачка шахтных 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4553712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47D"/>
                </a:solidFill>
                <a:latin typeface="Calibri"/>
              </a:rPr>
              <a:t>Способы в России и за рубежом, технико-экономические показатели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521207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6A2A"/>
                </a:solidFill>
                <a:latin typeface="Calibri"/>
              </a:rPr>
              <a:t>6 утверждений · гео-фильтр РФ/мир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МОДЕЛЬ ВЕРИФИКАЦИИ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Каждый факт — источник, достоверность, дата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3DB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Подтверждено данными / несколькими источниками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2331720"/>
            <a:ext cx="365760" cy="365760"/>
          </a:xfrm>
          <a:prstGeom prst="ellipse">
            <a:avLst/>
          </a:prstGeom>
          <a:solidFill>
            <a:srgbClr val="E0B0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Средняя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Единичное упоминание в надёжном источнике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252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331720"/>
            <a:ext cx="365760" cy="365760"/>
          </a:xfrm>
          <a:prstGeom prst="ellipse">
            <a:avLst/>
          </a:prstGeom>
          <a:solidFill>
            <a:srgbClr val="D9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2860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Низкая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83464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Требует дополнительной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08E45"/>
                </a:solidFill>
                <a:latin typeface="Calibri"/>
              </a:rPr>
              <a:t>Плюс: статус (active / unverified_quote / superseded), дата актуализации, версионирование фактов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233 из 233 извлечённых LLM утверждений прошли string-match верификацию цитаты к исходному тексту документа.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Ни одна цитата не была принята без дословного совпадения — расхождения автоматически понижаются до низкой достоверности.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Компоненты решения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Ингест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PyMuPDF, python-docx, langdetect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Числа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Regex-грамматика (собственная)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Тезаурус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88 канонов, 400+ синонимов RU/EN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6596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10312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LLM-извлечение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441448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Строгая JSON-схема онтологии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Граф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Kùzu (embedded, Cypher)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Поиск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BM25 (rank_bm25) + фильтры графа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LLM-инференс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Yandex AI Studio → OpenRouter fallback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3200400"/>
            <a:ext cx="2514600" cy="105156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337560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86A2A"/>
                </a:solidFill>
                <a:latin typeface="Calibri"/>
              </a:rPr>
              <a:t>API/UI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3675887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2262E"/>
                </a:solidFill>
                <a:latin typeface="Calibri"/>
              </a:rPr>
              <a:t>FastAPI + Cytoscape.js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8E45"/>
                </a:solidFill>
                <a:latin typeface="Calibri"/>
              </a:rPr>
              <a:t>МАСШТАБИРУЕМОСТЬ И 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22262E"/>
                </a:solidFill>
                <a:latin typeface="Cambria"/>
              </a:rPr>
              <a:t>Готово к росту: новые домены, новые источники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5B7B8C"/>
                </a:solidFill>
                <a:latin typeface="Calibri"/>
              </a:rPr>
              <a:t>Расширяемость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Новый домен = новые записи тезауруса, онтология не меняется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Kùzu держит миллионы узлов; переход на Neo4j — те же Cypher-запросы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Извлечение инкрементально: новый документ проходит слои независимо</a:t>
            </a:r>
          </a:p>
          <a:p>
            <a:pPr indent="-182880" marL="182880">
              <a:lnSpc>
                <a:spcPct val="108000"/>
              </a:lnSpc>
              <a:spcAft>
                <a:spcPts val="1200"/>
              </a:spcAft>
              <a:buClr>
                <a:srgbClr val="E08E45"/>
              </a:buClr>
              <a:buFont typeface="Arial"/>
              <a:buChar char="●"/>
            </a:pPr>
            <a:r>
              <a:rPr sz="1300">
                <a:solidFill>
                  <a:srgbClr val="22262E"/>
                </a:solidFill>
                <a:latin typeface="Calibri"/>
              </a:rPr>
              <a:t>Версионирование: Claim.status / superseded_by / created_at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08E45"/>
                </a:solidFill>
                <a:latin typeface="Calibri"/>
              </a:rPr>
              <a:t>Соответствие FAIR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Findable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6517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BM25 + сущности + фильтры; у каждого факта — ID узла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2900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Accessible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42900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REST API, экспорт JSON; ролевая модель доступа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Interoperable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2062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Онтология сериализуема в RDF/OWL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983479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Reusable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983479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B7B8C"/>
                </a:solidFill>
                <a:latin typeface="Calibri"/>
              </a:rPr>
              <a:t>Источник, цитата, достоверность, дата — у каждого факта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" y="4572000"/>
            <a:ext cx="2377440" cy="2377440"/>
          </a:xfrm>
          <a:prstGeom prst="ellipse">
            <a:avLst/>
          </a:prstGeom>
          <a:solidFill>
            <a:srgbClr val="3E5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0"/>
            <a:ext cx="1828800" cy="1828800"/>
          </a:xfrm>
          <a:prstGeom prst="ellipse">
            <a:avLst/>
          </a:prstGeom>
          <a:solidFill>
            <a:srgbClr val="B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Граф — источник истины.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8E45"/>
                </a:solidFill>
                <a:latin typeface="Cambria"/>
              </a:rPr>
              <a:t>LLM — интерфейс, но не факт.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FD6DC"/>
                </a:solidFill>
                <a:latin typeface="Calibri"/>
              </a:rPr>
              <a:t>Научный клубок готов отвечать на сложные многопараметрические запросы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29626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2962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документ обработан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5656" y="4114800"/>
            <a:ext cx="26334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20 843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5656" y="4800600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числовых условия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4114800"/>
            <a:ext cx="44439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233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4800600"/>
            <a:ext cx="44439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утверждения (100% verified)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23192" y="411480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08E45"/>
                </a:solidFill>
                <a:latin typeface="Cambria"/>
              </a:rPr>
              <a:t>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23192" y="4800600"/>
            <a:ext cx="2304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7B8C"/>
                </a:solidFill>
                <a:latin typeface="Calibri"/>
              </a:rPr>
              <a:t>сущности графа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7B8C"/>
                </a:solidFill>
                <a:latin typeface="Calibri"/>
              </a:rPr>
              <a:t>Репозиторий · демо · презентация — см. сопроводительные материалы подачи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4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