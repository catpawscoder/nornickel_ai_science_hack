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457200"/>
            <a:ext cx="2926080" cy="2926080"/>
          </a:xfrm>
          <a:prstGeom prst="ellipse">
            <a:avLst/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32720" y="4114800"/>
            <a:ext cx="2011680" cy="2011680"/>
          </a:xfrm>
          <a:prstGeom prst="ellipse">
            <a:avLst/>
          </a:prstGeom>
          <a:solidFill>
            <a:srgbClr val="B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8E45"/>
                </a:solidFill>
                <a:latin typeface="Calibri"/>
              </a:rPr>
              <a:t>НАУЧНЫЙ ХАКАТОН · ГОРНАЯ МЕТАЛЛУРГИЯ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Cambria"/>
              </a:rPr>
              <a:t>Научный клубок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CFD6DC"/>
                </a:solidFill>
                <a:latin typeface="Calibri"/>
              </a:rPr>
              <a:t>Верифицируемая карта знаний R&amp;D для горно-металлургической отрасли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5B7B8C"/>
                </a:solidFill>
                <a:latin typeface="Calibri"/>
              </a:rPr>
              <a:t>2 090 документов корпуса кейса · граф знаний, где числа не может исказить ни одна модель — они проверяются дословным совпадением с источником.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806440"/>
            <a:ext cx="2798064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27980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2 090 публикаций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9624" y="5806440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9624" y="580644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292 155 условий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9983" y="5806440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9983" y="580644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665 утверждений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0344" y="5806440"/>
            <a:ext cx="2798064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10344" y="5806440"/>
            <a:ext cx="27980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100% верификация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91440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Проблема не в отсутствии моделей —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а в отсутствии общей структуры знаний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0487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Потеря институциональной памяти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9864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Знания о выщелачивании, электролите, распределении металлов рассеяны по отчётам и личным архивам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4884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242316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40487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Дублирование усилий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89864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Команды заново пишут литобзоры, не видя, что аналогичная работа уже выполнена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443484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41655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Сложность междисциплинарного поиска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1032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Нельзя быстро связать «кучное выщелачивание в холодном климате» с «выходом металла»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6052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0" y="443484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441655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Низкая скорость решений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91032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Ответ на вопрос о циркуляции электролита требует ручного сбора данных из десятков источников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ОБРАЗ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Единая карта знаний, связывающая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разнородные сущности отрасли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134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Публикации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Литобзоры, патенты, диссертации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1488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3134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Эксперименты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71576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Протоколы, параметры процессов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1488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3134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Технологии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71576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Схемы циркуляции, конструкции ячеек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11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764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Материалы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Сульфаты, никель, гипс, штейн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3611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7764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Оборудование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17880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Ванны EW, печи ПВП, газоочистка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3611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37764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Эксперты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17880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Лаборатории, авторы, компетенции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50749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523951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Выводы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64184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Подтверждённые эффекты, ограничения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КЛЮЧЕВАЯ ИДЕЯ АРХИТЕКТУРЫ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Гибрид с жёстким разделением ответственности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E08E45"/>
                </a:solidFill>
                <a:latin typeface="Calibri"/>
              </a:rPr>
              <a:t>Граф — источник истины. LLM — интерфейс к нему на входе и выходе, но никогда не источник фактов.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6712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Числа, единицы, диапазоны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67128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Только детерминированная regex-грамматика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167128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ТЗ: ошибки в концентрациях недопустимы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53512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1F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Верификация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063240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String-match каждой цитаты к исходному тексту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063240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Галлюцинация не может попасть в граф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9624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5935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Сущности и связи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959352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LLM по строгой JSON-схеме + тезаурус-канонизатор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959352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RU/EN синонимы: «электроэкстракция» = «electrowinning»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45736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1F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85546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Хранение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855464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Kùzu — графовая СУБД с Cypher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855464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Обход 3-4 уровней связей &lt; 0.2 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41848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7515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Синтез ответа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751576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GraphRAG: граф фильтрует, LLM оформляет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5751576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Каждое утверждение = узел графа с цитатой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Пайплайн: от документа до верифицированного ответа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Ингест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PDF/DOCX/XLS/PPTX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RU/EN + OCR сканов</a:t>
            </a:r>
          </a:p>
        </p:txBody>
      </p:sp>
      <p:sp>
        <p:nvSpPr>
          <p:cNvPr id="9" name="Chevron 8"/>
          <p:cNvSpPr/>
          <p:nvPr/>
        </p:nvSpPr>
        <p:spPr>
          <a:xfrm>
            <a:off x="2624327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62072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62072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regex-грамматика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181 047 условий</a:t>
            </a:r>
          </a:p>
        </p:txBody>
      </p:sp>
      <p:sp>
        <p:nvSpPr>
          <p:cNvPr id="14" name="Chevron 13"/>
          <p:cNvSpPr/>
          <p:nvPr/>
        </p:nvSpPr>
        <p:spPr>
          <a:xfrm>
            <a:off x="4846319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84064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4064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Сущности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LLM + тезаурус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88 канонов, 400+ синонимов</a:t>
            </a:r>
          </a:p>
        </p:txBody>
      </p:sp>
      <p:sp>
        <p:nvSpPr>
          <p:cNvPr id="19" name="Chevron 18"/>
          <p:cNvSpPr/>
          <p:nvPr/>
        </p:nvSpPr>
        <p:spPr>
          <a:xfrm>
            <a:off x="7068311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06055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06055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06055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Граф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3215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Kùzu: 8 типов узлов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19 типов рёбер</a:t>
            </a:r>
          </a:p>
        </p:txBody>
      </p:sp>
      <p:sp>
        <p:nvSpPr>
          <p:cNvPr id="24" name="Chevron 23"/>
          <p:cNvSpPr/>
          <p:nvPr/>
        </p:nvSpPr>
        <p:spPr>
          <a:xfrm>
            <a:off x="9290303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28047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28047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28047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Ответ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7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BM25 + фильтры графа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+ LLM-синтез с цитатами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526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3E5463"/>
                </a:solidFill>
                <a:latin typeface="Calibri"/>
              </a:rPr>
              <a:t>Каждый узел графа несёт источник, дословную цитату и уровень достоверности — модель верификации знаний из ТЗ.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4 эталонных запроса из ТЗ — с числами и подтверждено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1945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Обессоливание 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63347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Сульфаты/хлориды 200-300 мг/л, сухой остаток ≤1000 мг/дм³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2918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26 условий · 24 утверждения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0116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201168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79" y="21945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Циркуляция католита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263347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Технические решения EW никеля в мировой практике, оптимальная скорость потока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79" y="32918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60 утверждений с числами (л/мин, м³/ч)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41148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Au, Ag, МПГ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455371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Распределение между штейном и шлаком за последние 10 лет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521207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60 утверждений, коэффициенты распределения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93192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93192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41148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Закачка шахтных 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455371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Способы в России и за рубежом, технико-экономические показатели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79" y="521207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6 утверждений · гео-фильтр РФ/мир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МОДЕЛЬ ВЕРИФИКАЦИИ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Каждый факт — источник, достоверность, дата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3DB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19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Подтверждено данными / несколькими источниками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2331720"/>
            <a:ext cx="365760" cy="365760"/>
          </a:xfrm>
          <a:prstGeom prst="ellipse">
            <a:avLst/>
          </a:prstGeom>
          <a:solidFill>
            <a:srgbClr val="E0B0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Средняя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8346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Единичное упоминание в надёжном источнике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5320" y="2331720"/>
            <a:ext cx="365760" cy="365760"/>
          </a:xfrm>
          <a:prstGeom prst="ellipse">
            <a:avLst/>
          </a:prstGeom>
          <a:solidFill>
            <a:srgbClr val="D9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Низкая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8346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Требует дополнительной проверки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77639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08E45"/>
                </a:solidFill>
                <a:latin typeface="Calibri"/>
              </a:rPr>
              <a:t>Плюс: статус (active / unverified_quote / superseded), дата актуализации, версионирование фактов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665 из 665 извлечённых LLM утверждений прошли string-match верификацию цитаты к исходному тексту документа.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Ни одна цитата не была принята без дословного совпадения — расхождения автоматически понижаются до низкой достоверности.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ТЕХНОЛОГИЧЕСКИЙ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Компоненты решения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Ингест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PyMuPDF, docx, xls,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OCR сканов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easyocr на GPU (RTX 5090)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Regex-грамматика (собственная)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Тезаурус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88 канонов, 400+ синонимов RU/EN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LLM-извлечение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Строгая JSON-схема онтологии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Граф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Kùzu (embedded, Cypher)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LLM-инференс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Yandex → OpenRouter → GigaChat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API/UI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FastAPI + Cytoscape.js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МАСШТАБИРУЕМОСТЬ И FAIR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Готово к росту: новые домены, новые источники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5B7B8C"/>
                </a:solidFill>
                <a:latin typeface="Calibri"/>
              </a:rPr>
              <a:t>Расширяемость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Новый домен = новые записи тезауруса, онтология не меняется</a:t>
            </a:r>
          </a:p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Kùzu держит миллионы узлов; переход на Neo4j — те же Cypher-запросы</a:t>
            </a:r>
          </a:p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Извлечение инкрементально: новый документ проходит слои независимо</a:t>
            </a:r>
          </a:p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Версионирование: Claim.status / superseded_by / created_at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08E45"/>
                </a:solidFill>
                <a:latin typeface="Calibri"/>
              </a:rPr>
              <a:t>Соответствие FAIR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51760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Findable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65176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BM25 + сущности + фильтры; у каждого факта — ID узла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429000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Accessible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42900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REST API, экспорт JSON; ролевая модель доступа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Interoperable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2062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Онтология сериализуема в RDF/OWL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983479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Reusable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983479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Источник, цитата, достоверность, дата — у каждого факта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" y="4572000"/>
            <a:ext cx="2377440" cy="2377440"/>
          </a:xfrm>
          <a:prstGeom prst="ellipse">
            <a:avLst/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0"/>
            <a:ext cx="1828800" cy="1828800"/>
          </a:xfrm>
          <a:prstGeom prst="ellipse">
            <a:avLst/>
          </a:prstGeom>
          <a:solidFill>
            <a:srgbClr val="B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Граф — источник истины.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8E45"/>
                </a:solidFill>
                <a:latin typeface="Cambria"/>
              </a:rPr>
              <a:t>LLM — интерфейс, но не факт.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CFD6DC"/>
                </a:solidFill>
                <a:latin typeface="Calibri"/>
              </a:rPr>
              <a:t>Научный клубок готов отвечать на сложные многопараметрические запросы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3456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2 090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00600"/>
            <a:ext cx="34564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документов обработано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4114800"/>
            <a:ext cx="26334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292 155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4800600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числовых условий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2944" y="4114800"/>
            <a:ext cx="44439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665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2944" y="4800600"/>
            <a:ext cx="44439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утверждений (100% verified)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16967" y="411480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16967" y="4800600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LLM-провайдера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7B8C"/>
                </a:solidFill>
                <a:latin typeface="Calibri"/>
              </a:rPr>
              <a:t>Репозиторий · демо · презентация — см. сопроводительные материалы подачи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